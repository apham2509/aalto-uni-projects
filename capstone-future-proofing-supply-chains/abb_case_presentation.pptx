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4" r:id="rId5"/>
    <p:sldMasterId id="2147483659" r:id="rId6"/>
  </p:sldMasterIdLst>
  <p:notesMasterIdLst>
    <p:notesMasterId r:id="rId47"/>
  </p:notesMasterIdLst>
  <p:sldIdLst>
    <p:sldId id="261" r:id="rId7"/>
    <p:sldId id="257" r:id="rId8"/>
    <p:sldId id="293" r:id="rId9"/>
    <p:sldId id="278" r:id="rId10"/>
    <p:sldId id="258" r:id="rId11"/>
    <p:sldId id="279" r:id="rId12"/>
    <p:sldId id="280" r:id="rId13"/>
    <p:sldId id="281" r:id="rId14"/>
    <p:sldId id="282" r:id="rId15"/>
    <p:sldId id="283" r:id="rId16"/>
    <p:sldId id="284" r:id="rId17"/>
    <p:sldId id="287" r:id="rId18"/>
    <p:sldId id="285" r:id="rId19"/>
    <p:sldId id="286" r:id="rId20"/>
    <p:sldId id="301" r:id="rId21"/>
    <p:sldId id="302" r:id="rId22"/>
    <p:sldId id="303" r:id="rId23"/>
    <p:sldId id="288" r:id="rId24"/>
    <p:sldId id="262" r:id="rId25"/>
    <p:sldId id="263" r:id="rId26"/>
    <p:sldId id="264" r:id="rId27"/>
    <p:sldId id="265" r:id="rId28"/>
    <p:sldId id="266" r:id="rId29"/>
    <p:sldId id="269" r:id="rId30"/>
    <p:sldId id="267" r:id="rId31"/>
    <p:sldId id="268" r:id="rId32"/>
    <p:sldId id="270" r:id="rId33"/>
    <p:sldId id="273" r:id="rId34"/>
    <p:sldId id="274" r:id="rId35"/>
    <p:sldId id="275" r:id="rId36"/>
    <p:sldId id="294" r:id="rId37"/>
    <p:sldId id="260" r:id="rId38"/>
    <p:sldId id="295" r:id="rId39"/>
    <p:sldId id="296" r:id="rId40"/>
    <p:sldId id="297" r:id="rId41"/>
    <p:sldId id="298" r:id="rId42"/>
    <p:sldId id="304" r:id="rId43"/>
    <p:sldId id="299" r:id="rId44"/>
    <p:sldId id="300" r:id="rId45"/>
    <p:sldId id="30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7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F0D0D-A78C-43BC-BF01-F57A05F0A144}" v="1663" dt="2026-02-12T13:58:15.424"/>
    <p1510:client id="{3B979921-64EF-4CA4-B17B-F575BEE4F411}" v="1235" dt="2026-02-12T12:08:01.647"/>
    <p1510:client id="{5632DE91-2711-4669-AEFE-B7ACB5118BDB}" v="18" dt="2026-02-12T12:51:32.866"/>
    <p1510:client id="{8567B3C7-3C94-439E-8E94-C7965473D2CF}" v="10" dt="2026-02-13T08:09:28.898"/>
    <p1510:client id="{9D18A128-5DB6-DB45-876B-9E3AF2A59A56}" v="266" dt="2026-02-13T08:34:50.033"/>
    <p1510:client id="{C89E45D6-FFCF-F746-9080-E89F30945649}" v="3643" dt="2026-02-12T13:40:13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76"/>
  </p:normalViewPr>
  <p:slideViewPr>
    <p:cSldViewPr snapToGrid="0">
      <p:cViewPr varScale="1">
        <p:scale>
          <a:sx n="149" d="100"/>
          <a:sy n="149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30CD9-F147-184E-B297-57D153F7EFE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954F2-CD98-5C41-86E7-0F16E0850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7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/>
              <a:t>The objective of this study was therefore to identify the key operational drivers behind lead-time variation, backlog build-up, and capacity pressure in the analyzed service operations.</a:t>
            </a:r>
            <a:endParaRPr lang="en-US" dirty="0">
              <a:latin typeface="Aptos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Because order complexity and incoming demand fluctuate, both lead times and workload levels can vary significantly over time, which also affects capacity utilization across the service network.</a:t>
            </a:r>
          </a:p>
          <a:p>
            <a:pPr>
              <a:buFont typeface="Arial"/>
              <a:buChar char="•"/>
            </a:pPr>
            <a:r>
              <a:rPr lang="en-US"/>
              <a:t>These variations make short-term planning more difficult and reduce delivery predictability, especially during workload peaks.</a:t>
            </a:r>
          </a:p>
          <a:p>
            <a:pPr>
              <a:buFont typeface="Arial"/>
              <a:buChar char="•"/>
            </a:pP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00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/>
              <a:t>The analysis combined process flow review with operational data analysis to identify where delays and variability occur in the service process.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Operational datasets were used to examine demand patterns, lead-time variation, backlog levels, and capacity pressure.</a:t>
            </a:r>
          </a:p>
          <a:p>
            <a:pPr>
              <a:buFont typeface="Arial"/>
              <a:buChar char="•"/>
            </a:pPr>
            <a:r>
              <a:rPr lang="en-US"/>
              <a:t>Data was prepared in Excel, visualized in Power BI dashboards, and analyzed further in Python to evaluate lead-time structure and variability across process stages.</a:t>
            </a:r>
          </a:p>
          <a:p>
            <a:pPr>
              <a:buFont typeface="Arial"/>
              <a:buChar char="•"/>
            </a:pPr>
            <a:r>
              <a:rPr lang="en-US"/>
              <a:t>The objective was to identify where time is spent in the process and which stages create the largest planning uncertainty.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84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section is the evidence base for our recommendations. We used Python to quantify demand patterns, overtime pressure, and where lead time accumulates across process stages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consistent message: ABB is usually fast at execution once work starts, the big delays happen</a:t>
            </a:r>
            <a:r>
              <a:rPr lang="en-US" i="0"/>
              <a:t> before </a:t>
            </a:r>
            <a:r>
              <a:rPr lang="en-US"/>
              <a:t>that, due to queues, coordination and uncertainty.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r>
              <a:rPr lang="en-US" b="1"/>
              <a:t>Likely question:</a:t>
            </a:r>
            <a:r>
              <a:rPr lang="en-US"/>
              <a:t> “Is this about technical speed?”</a:t>
            </a:r>
          </a:p>
          <a:p>
            <a:r>
              <a:rPr lang="en-US" b="1"/>
              <a:t>Answer:</a:t>
            </a:r>
            <a:r>
              <a:rPr lang="en-US"/>
              <a:t> “No, the data points more strongly to waiting/coordination and upstream uncertainty.”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32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2038-BB83-D26A-C5B5-1A092961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95BF0-71C0-522D-7097-C8D0E06D0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4B3A6-0322-961D-8219-4B354448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Median shows the typical case. p90 shows reliability, the ‘bad cases’ that drive customer pain and firefighting.</a:t>
            </a:r>
          </a:p>
          <a:p>
            <a:r>
              <a:rPr lang="en-US"/>
              <a:t>We use these because averages hide the long tail.</a:t>
            </a:r>
          </a:p>
          <a:p>
            <a:endParaRPr lang="en-US"/>
          </a:p>
          <a:p>
            <a:r>
              <a:rPr lang="en-US" b="1"/>
              <a:t>Likely question:</a:t>
            </a:r>
            <a:r>
              <a:rPr lang="en-US"/>
              <a:t> “Why not just average?”</a:t>
            </a:r>
          </a:p>
          <a:p>
            <a:r>
              <a:rPr lang="en-US" b="1"/>
              <a:t>Answer:</a:t>
            </a:r>
            <a:r>
              <a:rPr lang="en-US"/>
              <a:t> “Because a few extreme delays pull the average up; median/p90 reflect typical performance and reliability.”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43988-A7F5-2FB5-78B7-4C730ED06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14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3A01-9450-2509-B3C2-2BA11BB5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793A8-93A0-8A8F-4BB1-591F6AA79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E2D04-6C7B-FCF9-3954-CE9951B62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Retrofit has a clear step-change in 2025: roughly doubling compared to 2023.</a:t>
            </a:r>
          </a:p>
          <a:p>
            <a:r>
              <a:rPr lang="en-US"/>
              <a:t>Volatility matters more than averages. Lumpy arrivals create backlog, and backlog doesn’t disappear when demand drops next month, it carries over as waiting time.</a:t>
            </a:r>
          </a:p>
          <a:p>
            <a:r>
              <a:rPr lang="en-US"/>
              <a:t>-&gt; This supports building earlier workload visibility and stronger planning rules for peaks (Recommendations </a:t>
            </a:r>
            <a:r>
              <a:rPr lang="en-US" b="1"/>
              <a:t>1 and 2</a:t>
            </a:r>
            <a:r>
              <a:rPr lang="en-US"/>
              <a:t>).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“Order intake is euros, does it equal hours?”</a:t>
            </a:r>
          </a:p>
          <a:p>
            <a:r>
              <a:rPr lang="en-US" b="1"/>
              <a:t>Answer:</a:t>
            </a:r>
            <a:r>
              <a:rPr lang="en-US"/>
              <a:t> “Not directly, but it’s a strong signal of workload shifts and volatility; we use it as a demand proxy alongside overtime and lead time timestamps.”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2CC78-3993-3B04-A8BF-1102F4F92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8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23BE-BDC1-CF45-5D38-F6ADC891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29E00-1CDA-BD22-D71A-57F9DF7CE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67AF1-91ED-650D-A36E-D81DFE920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overtime were purely about intake, the relationship would be tighter. Instead, overtime likely reflects late releases, shifting priorities, missing information, and recovery work after delays.</a:t>
            </a:r>
          </a:p>
          <a:p>
            <a:r>
              <a:rPr lang="en-US"/>
              <a:t>So the lever is not only ‘add capacity’, it’s reduce uncertainty and control how work is released.</a:t>
            </a:r>
          </a:p>
          <a:p>
            <a:r>
              <a:rPr lang="en-US"/>
              <a:t>-&gt; This supports queue visibility + predictive planning to reduce firefighting (Recommendations </a:t>
            </a:r>
            <a:r>
              <a:rPr lang="en-US" b="1"/>
              <a:t>1 and 2</a:t>
            </a:r>
            <a:r>
              <a:rPr lang="en-US"/>
              <a:t>).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“So should ABB hire more people?”</a:t>
            </a:r>
          </a:p>
          <a:p>
            <a:r>
              <a:rPr lang="en-US" b="1"/>
              <a:t>Answer:</a:t>
            </a:r>
            <a:r>
              <a:rPr lang="en-US"/>
              <a:t> “Capacity helps, but the bigger win is stabilizing flow: visibility + better release/coordination reduces peaks that trigger overtime.”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A29F5-D418-9059-A361-BBF91C5B9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22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1745-F38A-0002-30C8-298F21FA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7BB24-AFFE-57B8-2352-7D0E364DC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B9982-AA49-EC35-6773-7606C002B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Typical cases are around 3–4 months, but the long tail creates the reliability problem.</a:t>
            </a:r>
          </a:p>
          <a:p>
            <a:r>
              <a:rPr lang="en-US"/>
              <a:t>This is why we focus on queue and readiness -&gt; to prevent cases from falling into the tail.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“Are these outliers real or data errors?”</a:t>
            </a:r>
          </a:p>
          <a:p>
            <a:r>
              <a:rPr lang="en-US" b="1"/>
              <a:t>Answer:</a:t>
            </a:r>
            <a:r>
              <a:rPr lang="en-US"/>
              <a:t> “Some may be exceptions or holds; regardless, the long tail is operationally meaningful because those cases create the biggest customer and planning impact.”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CDB7-29ED-B692-5651-00EC8281B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36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ADA7-7324-A02B-2FE3-E7986AB4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96DF5-65B5-3EC4-B2E1-EE0D5C8D3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1283A-C542-8ECC-82C6-6A97A2F18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most actionable result: most time is waiting before assembly starts.</a:t>
            </a:r>
          </a:p>
          <a:p>
            <a:r>
              <a:rPr lang="en-US"/>
              <a:t>So improvements should target readiness and queue discipline: what is waiting, why, how long, and what is needed to start.</a:t>
            </a:r>
          </a:p>
          <a:p>
            <a:r>
              <a:rPr lang="en-US"/>
              <a:t>-&gt; Queue visibility + proactive unblocking has the biggest potential impact (Recommendations </a:t>
            </a:r>
            <a:r>
              <a:rPr lang="en-US" b="1"/>
              <a:t>1 and 2</a:t>
            </a:r>
            <a:r>
              <a:rPr lang="en-US"/>
              <a:t>).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“Why is the pre-assembly wait so long?”</a:t>
            </a:r>
          </a:p>
          <a:p>
            <a:r>
              <a:rPr lang="en-US" b="1"/>
              <a:t>Answer:</a:t>
            </a:r>
            <a:r>
              <a:rPr lang="en-US"/>
              <a:t> “Likely a mix of readiness (info/parts/approvals), prioritization rules, and release timing, which is exactly what queue visualization makes measurable.”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6D3A2-8161-AD18-A183-021B70B03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24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81FE-D991-0892-A3AC-D6F4845D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ACB30-7800-E474-D42E-F6B2288B2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B4D3A-1F6B-E844-1DDF-2F7A1010E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supports planning segmentation: engineered work behaves differently, mainly due to uncertainty before execution.</a:t>
            </a:r>
          </a:p>
          <a:p>
            <a:r>
              <a:rPr lang="en-US"/>
              <a:t>If ABB plans everything the same, the queue becomes harder to manage and dates become unreliable.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“Does this mean OBE should be deprioritized?”</a:t>
            </a:r>
          </a:p>
          <a:p>
            <a:r>
              <a:rPr lang="en-US" b="1"/>
              <a:t>Answer:</a:t>
            </a:r>
            <a:r>
              <a:rPr lang="en-US"/>
              <a:t> “Not necessarily, it means OBE needs a different planning approach and earlier readiness checks.”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C1FBC-BB98-1910-F86D-BCE2F9F63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8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1795-80CB-FDE8-5F0C-4A836024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5F22D-98A5-091E-5F50-C399A77B1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D79BB-7739-9223-36BC-DACECB185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supports planning segmentation: engineered work behaves differently, mainly due to uncertainty before execution.</a:t>
            </a:r>
          </a:p>
          <a:p>
            <a:r>
              <a:rPr lang="en-US"/>
              <a:t>If ABB plans everything the same, the queue becomes harder to manage and dates become unreliable.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“Does this mean OBE should be deprioritized?”</a:t>
            </a:r>
          </a:p>
          <a:p>
            <a:r>
              <a:rPr lang="en-US" b="1"/>
              <a:t>Answer:</a:t>
            </a:r>
            <a:r>
              <a:rPr lang="en-US"/>
              <a:t> “Not necessarily, it means OBE needs a different planning approach and earlier readiness checks.”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B1C95-C9FC-5D32-095D-6780185F3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40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8B13E-FD9D-73BD-6794-8B58B94E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822F5-8FC5-9100-71B8-2F5034CA5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24084-ACED-94C5-1200-11AABEFB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important because it prevents ABB from optimizing the wrong thing. The workshop seems to do its job quickly once it has the unit.</a:t>
            </a:r>
          </a:p>
          <a:p>
            <a:r>
              <a:rPr lang="en-US"/>
              <a:t>So the biggest win is reducing inbound uncertainty and improving readiness/coordination.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“But some repairs are complex?”</a:t>
            </a:r>
          </a:p>
          <a:p>
            <a:r>
              <a:rPr lang="en-US" b="1"/>
              <a:t>Answer:</a:t>
            </a:r>
            <a:r>
              <a:rPr lang="en-US"/>
              <a:t> “Yes, but the dataset shows the typical internal cycle is short; complexity likely appears in exceptions and coordination-heavy cases.”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A1884-6421-AA05-F858-FBC59CB0D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62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650-3ED6-D54A-E6FB-B6BEE4F8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6972D-6917-4193-ECFA-24B66A543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9E63E-CE17-686D-FEF3-076EBCA35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hidden queue: while approval is pending, the order can’t be planned confidently.</a:t>
            </a:r>
          </a:p>
          <a:p>
            <a:r>
              <a:rPr lang="en-US"/>
              <a:t>Standardization and SLA-style targets reduce both lead time and planning disruption.</a:t>
            </a:r>
          </a:p>
          <a:p>
            <a:r>
              <a:rPr lang="en-US"/>
              <a:t>-&gt; directly supports Recommendation </a:t>
            </a:r>
            <a:r>
              <a:rPr lang="en-US" b="1"/>
              <a:t>4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Likely question:</a:t>
            </a:r>
            <a:r>
              <a:rPr lang="en-US"/>
              <a:t> “Is this mostly customer delay?”</a:t>
            </a:r>
          </a:p>
          <a:p>
            <a:r>
              <a:rPr lang="en-US" b="1"/>
              <a:t>Answer:</a:t>
            </a:r>
            <a:r>
              <a:rPr lang="en-US"/>
              <a:t> “It’s a shared process. The point is to make it measurable and managed, with clear response expectations.”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947EE-D1DB-BA89-489B-A529D45E7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8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/>
              <a:t>Baseline scenario shows capacity pressure and overtime-driven recovery</a:t>
            </a:r>
            <a:endParaRPr lang="en-US"/>
          </a:p>
          <a:p>
            <a:r>
              <a:rPr lang="fi-FI"/>
              <a:t>Improved planning scenario shows: positive montly capacity gap, more balanced capacity utilization</a:t>
            </a:r>
            <a:endParaRPr lang="en-US"/>
          </a:p>
          <a:p>
            <a:r>
              <a:rPr lang="en-US"/>
              <a:t>When workload release is balanced and planning visibility is improved, the system shows a positive capacity gap and more stable utilization levels.</a:t>
            </a:r>
          </a:p>
          <a:p>
            <a:r>
              <a:rPr lang="en-US"/>
              <a:t>This demonstrates that operational stability can be improved primarily through planning and visibility improvements, without necessarily increasing total capacity.</a:t>
            </a:r>
          </a:p>
          <a:p>
            <a:r>
              <a:rPr lang="en-US"/>
              <a:t>These results also support our recommendations to move toward predictive planning and earlier workload visibility.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23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The dashboard shows that total lead times are long and highly variable, but most of the delay occurs before assembly begins.</a:t>
            </a:r>
            <a:endParaRPr lang="fi-FI"/>
          </a:p>
          <a:p>
            <a:pPr marL="285750" indent="-285750">
              <a:buFont typeface="Arial"/>
              <a:buChar char="•"/>
            </a:pPr>
            <a:r>
              <a:rPr lang="en-US"/>
              <a:t>Assembly itself is relatively short and stable, meaning the main improvement opportunity is not faster execution but better visibility and control of the waiting stages.</a:t>
            </a:r>
            <a:endParaRPr lang="fi-FI"/>
          </a:p>
          <a:p>
            <a:pPr marL="285750" indent="-285750">
              <a:buFont typeface="Arial"/>
              <a:buChar char="•"/>
            </a:pPr>
            <a:r>
              <a:rPr lang="en-US"/>
              <a:t>Improving queue visibility and readiness tracking would therefore have the largest impact on total lead-time performance.</a:t>
            </a:r>
            <a:endParaRPr lang="fi-FI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49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/>
              <a:t>The repair dashboard shows that once the unit arrives and processing begins, execution times are typically short.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However, arrival timing varies significantly, creating workload fluctuations and temporary capacity pressure.</a:t>
            </a:r>
          </a:p>
          <a:p>
            <a:pPr>
              <a:buFont typeface="Arial"/>
              <a:buChar char="•"/>
            </a:pPr>
            <a:r>
              <a:rPr lang="en-US"/>
              <a:t>This indicates that the main planning challenge is inbound pipeline uncertainty rather than workshop performance.</a:t>
            </a:r>
          </a:p>
          <a:p>
            <a:pPr>
              <a:buFont typeface="Arial"/>
              <a:buChar char="•"/>
            </a:pPr>
            <a:r>
              <a:rPr lang="en-US"/>
              <a:t>Segmenting the inbound pipeline based on predictability would improve planning stability and reduce disruptions.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59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E5B1-EA95-0DBC-F9E7-737FE0D2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5AAA1-9A15-AB0A-1AC9-44102E325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17B17-33DC-B593-4C3F-BBC417E41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bridge slide: each recommendation is anchored in a measured delay driver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1DDB-88FF-C253-19EF-B76DA0688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8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954F2-CD98-5C41-86E7-0F16E08502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4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99E7-5575-E08C-B2DA-5DB6D74E2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02EB8-3EE1-5869-2FA1-93EC841CB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0806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AA6D-33B5-3FDE-B3FE-419DF428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AF18F2-6957-CE8F-7521-F9CFEC1F2B28}"/>
              </a:ext>
            </a:extLst>
          </p:cNvPr>
          <p:cNvGrpSpPr/>
          <p:nvPr userDrawn="1"/>
        </p:nvGrpSpPr>
        <p:grpSpPr>
          <a:xfrm>
            <a:off x="838200" y="6305961"/>
            <a:ext cx="9983096" cy="373828"/>
            <a:chOff x="139850" y="3005773"/>
            <a:chExt cx="9983096" cy="373828"/>
          </a:xfrm>
          <a:solidFill>
            <a:schemeClr val="bg2">
              <a:lumMod val="75000"/>
            </a:schemeClr>
          </a:solidFill>
        </p:grpSpPr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7641E886-674A-CF26-2D2D-7F8A4497140A}"/>
                </a:ext>
              </a:extLst>
            </p:cNvPr>
            <p:cNvSpPr/>
            <p:nvPr userDrawn="1"/>
          </p:nvSpPr>
          <p:spPr>
            <a:xfrm>
              <a:off x="139850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Analysis</a:t>
              </a: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B13055D3-72FB-5E89-A30E-08C483564A19}"/>
                </a:ext>
              </a:extLst>
            </p:cNvPr>
            <p:cNvSpPr/>
            <p:nvPr userDrawn="1"/>
          </p:nvSpPr>
          <p:spPr>
            <a:xfrm>
              <a:off x="5131398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Recommendations</a:t>
              </a:r>
            </a:p>
          </p:txBody>
        </p:sp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3430CF39-E31C-9280-7661-387ABFE74083}"/>
                </a:ext>
              </a:extLst>
            </p:cNvPr>
            <p:cNvSpPr/>
            <p:nvPr userDrawn="1"/>
          </p:nvSpPr>
          <p:spPr>
            <a:xfrm>
              <a:off x="2635624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Results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638165B6-C183-2B1E-1DB2-E53CCDD7D97E}"/>
                </a:ext>
              </a:extLst>
            </p:cNvPr>
            <p:cNvSpPr/>
            <p:nvPr userDrawn="1"/>
          </p:nvSpPr>
          <p:spPr>
            <a:xfrm>
              <a:off x="7627172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610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AB93-B4DD-8B16-994E-4960FD20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F9750B-3654-7156-5E80-AD16B500CA8C}"/>
              </a:ext>
            </a:extLst>
          </p:cNvPr>
          <p:cNvGrpSpPr/>
          <p:nvPr userDrawn="1"/>
        </p:nvGrpSpPr>
        <p:grpSpPr>
          <a:xfrm>
            <a:off x="838200" y="6305961"/>
            <a:ext cx="9983096" cy="373828"/>
            <a:chOff x="139850" y="3005773"/>
            <a:chExt cx="9983096" cy="373828"/>
          </a:xfrm>
          <a:solidFill>
            <a:schemeClr val="bg2">
              <a:lumMod val="75000"/>
            </a:schemeClr>
          </a:solidFill>
        </p:grpSpPr>
        <p:sp>
          <p:nvSpPr>
            <p:cNvPr id="22" name="Chevron 21">
              <a:extLst>
                <a:ext uri="{FF2B5EF4-FFF2-40B4-BE49-F238E27FC236}">
                  <a16:creationId xmlns:a16="http://schemas.microsoft.com/office/drawing/2014/main" id="{D42E51BB-4E85-98BF-1B9E-0867499DFFBF}"/>
                </a:ext>
              </a:extLst>
            </p:cNvPr>
            <p:cNvSpPr/>
            <p:nvPr userDrawn="1"/>
          </p:nvSpPr>
          <p:spPr>
            <a:xfrm>
              <a:off x="139850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Analysis</a:t>
              </a:r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0B4BF655-D61C-CAB6-8213-FF51173A0BF8}"/>
                </a:ext>
              </a:extLst>
            </p:cNvPr>
            <p:cNvSpPr/>
            <p:nvPr userDrawn="1"/>
          </p:nvSpPr>
          <p:spPr>
            <a:xfrm>
              <a:off x="5131398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Recommendations</a:t>
              </a:r>
            </a:p>
          </p:txBody>
        </p:sp>
        <p:sp>
          <p:nvSpPr>
            <p:cNvPr id="24" name="Chevron 23">
              <a:extLst>
                <a:ext uri="{FF2B5EF4-FFF2-40B4-BE49-F238E27FC236}">
                  <a16:creationId xmlns:a16="http://schemas.microsoft.com/office/drawing/2014/main" id="{87C396A8-E59B-9C76-A67A-9FA2A59BC111}"/>
                </a:ext>
              </a:extLst>
            </p:cNvPr>
            <p:cNvSpPr/>
            <p:nvPr userDrawn="1"/>
          </p:nvSpPr>
          <p:spPr>
            <a:xfrm>
              <a:off x="2635624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Results</a:t>
              </a:r>
            </a:p>
          </p:txBody>
        </p:sp>
        <p:sp>
          <p:nvSpPr>
            <p:cNvPr id="25" name="Chevron 24">
              <a:extLst>
                <a:ext uri="{FF2B5EF4-FFF2-40B4-BE49-F238E27FC236}">
                  <a16:creationId xmlns:a16="http://schemas.microsoft.com/office/drawing/2014/main" id="{EBF08EF4-B422-3603-40F0-1CECD9D92CEA}"/>
                </a:ext>
              </a:extLst>
            </p:cNvPr>
            <p:cNvSpPr/>
            <p:nvPr userDrawn="1"/>
          </p:nvSpPr>
          <p:spPr>
            <a:xfrm>
              <a:off x="7627172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Implementation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58EE4CF-299C-8BA4-10F7-12F8D2BB5C5C}"/>
              </a:ext>
            </a:extLst>
          </p:cNvPr>
          <p:cNvSpPr txBox="1"/>
          <p:nvPr userDrawn="1"/>
        </p:nvSpPr>
        <p:spPr>
          <a:xfrm>
            <a:off x="838200" y="1968500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900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mmend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41B8-2BB2-52BF-6DB6-3BDDE830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CE171F-D198-48DE-996B-64EBDF4B04D6}"/>
              </a:ext>
            </a:extLst>
          </p:cNvPr>
          <p:cNvGrpSpPr/>
          <p:nvPr userDrawn="1"/>
        </p:nvGrpSpPr>
        <p:grpSpPr>
          <a:xfrm>
            <a:off x="838200" y="6305961"/>
            <a:ext cx="9983096" cy="373828"/>
            <a:chOff x="139850" y="3005773"/>
            <a:chExt cx="9983096" cy="373828"/>
          </a:xfrm>
          <a:solidFill>
            <a:schemeClr val="bg2">
              <a:lumMod val="75000"/>
            </a:schemeClr>
          </a:solidFill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E143E729-A394-A825-E44E-94C5C1B5FAE0}"/>
                </a:ext>
              </a:extLst>
            </p:cNvPr>
            <p:cNvSpPr/>
            <p:nvPr userDrawn="1"/>
          </p:nvSpPr>
          <p:spPr>
            <a:xfrm>
              <a:off x="139850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Analysis</a:t>
              </a: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18B0FAE1-9E85-04E9-6CDE-0FD46410EB21}"/>
                </a:ext>
              </a:extLst>
            </p:cNvPr>
            <p:cNvSpPr/>
            <p:nvPr userDrawn="1"/>
          </p:nvSpPr>
          <p:spPr>
            <a:xfrm>
              <a:off x="5131398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Recommendations</a:t>
              </a: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D1990B4A-93B4-68DF-B148-83F5CBCE159B}"/>
                </a:ext>
              </a:extLst>
            </p:cNvPr>
            <p:cNvSpPr/>
            <p:nvPr userDrawn="1"/>
          </p:nvSpPr>
          <p:spPr>
            <a:xfrm>
              <a:off x="2635624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Results</a:t>
              </a:r>
            </a:p>
          </p:txBody>
        </p:sp>
        <p:sp>
          <p:nvSpPr>
            <p:cNvPr id="21" name="Chevron 20">
              <a:extLst>
                <a:ext uri="{FF2B5EF4-FFF2-40B4-BE49-F238E27FC236}">
                  <a16:creationId xmlns:a16="http://schemas.microsoft.com/office/drawing/2014/main" id="{781CA0E2-2DE9-2F32-DB27-D74DB95A1582}"/>
                </a:ext>
              </a:extLst>
            </p:cNvPr>
            <p:cNvSpPr/>
            <p:nvPr userDrawn="1"/>
          </p:nvSpPr>
          <p:spPr>
            <a:xfrm>
              <a:off x="7627172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Implementation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53205F-BD66-D6E8-7542-18C3A1A5DB57}"/>
              </a:ext>
            </a:extLst>
          </p:cNvPr>
          <p:cNvSpPr txBox="1"/>
          <p:nvPr userDrawn="1"/>
        </p:nvSpPr>
        <p:spPr>
          <a:xfrm>
            <a:off x="838200" y="1968500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7430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lement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9876-E62D-3CE0-301C-72A05CB4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2B22FC-4D63-0DD7-FABB-D6F8ABECEEE2}"/>
              </a:ext>
            </a:extLst>
          </p:cNvPr>
          <p:cNvGrpSpPr/>
          <p:nvPr userDrawn="1"/>
        </p:nvGrpSpPr>
        <p:grpSpPr>
          <a:xfrm>
            <a:off x="838200" y="6305961"/>
            <a:ext cx="9983096" cy="373828"/>
            <a:chOff x="139850" y="3005773"/>
            <a:chExt cx="9983096" cy="373828"/>
          </a:xfrm>
          <a:solidFill>
            <a:schemeClr val="bg2">
              <a:lumMod val="75000"/>
            </a:schemeClr>
          </a:solidFill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E995F47F-0AF8-5205-13A4-B55907150659}"/>
                </a:ext>
              </a:extLst>
            </p:cNvPr>
            <p:cNvSpPr/>
            <p:nvPr userDrawn="1"/>
          </p:nvSpPr>
          <p:spPr>
            <a:xfrm>
              <a:off x="139850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Analysis</a:t>
              </a: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259CD2B1-B9D1-8219-C1D3-E255DBB7A891}"/>
                </a:ext>
              </a:extLst>
            </p:cNvPr>
            <p:cNvSpPr/>
            <p:nvPr userDrawn="1"/>
          </p:nvSpPr>
          <p:spPr>
            <a:xfrm>
              <a:off x="5131398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Recommendations</a:t>
              </a: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A6A1C206-896B-8F28-5183-23C0B1D4F523}"/>
                </a:ext>
              </a:extLst>
            </p:cNvPr>
            <p:cNvSpPr/>
            <p:nvPr userDrawn="1"/>
          </p:nvSpPr>
          <p:spPr>
            <a:xfrm>
              <a:off x="2635624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</a:rPr>
                <a:t>Results</a:t>
              </a: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DE876B5B-FE5B-5EC1-AED3-98337FE74ED7}"/>
                </a:ext>
              </a:extLst>
            </p:cNvPr>
            <p:cNvSpPr/>
            <p:nvPr userDrawn="1"/>
          </p:nvSpPr>
          <p:spPr>
            <a:xfrm>
              <a:off x="7627172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Implementation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ED4BC5-B3E8-2A13-B216-4CE58E885CBD}"/>
              </a:ext>
            </a:extLst>
          </p:cNvPr>
          <p:cNvSpPr txBox="1"/>
          <p:nvPr userDrawn="1"/>
        </p:nvSpPr>
        <p:spPr>
          <a:xfrm>
            <a:off x="838200" y="1968500"/>
            <a:ext cx="10515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120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CEB4-AC71-4F1B-42AB-3A30D7D2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4988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3710-FC47-D205-3575-C2B2A45C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492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6599-BF1F-D540-E54E-A2836710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229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EA10-FC03-A97C-D56B-B37AA24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08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D4C62-F4B0-FE0B-F2E4-8458D1B6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595"/>
            <a:ext cx="10515600" cy="1325563"/>
          </a:xfrm>
          <a:prstGeom prst="rect">
            <a:avLst/>
          </a:prstGeom>
        </p:spPr>
        <p:txBody>
          <a:bodyPr anchor="b"/>
          <a:lstStyle>
            <a:lvl1pPr algn="ctr">
              <a:defRPr>
                <a:solidFill>
                  <a:schemeClr val="bg2"/>
                </a:solidFill>
                <a:latin typeface="Baskerville Old Face" panose="02020602080505020303" pitchFamily="18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380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6D36B2-DE53-0348-E42D-C37A4687F275}"/>
              </a:ext>
            </a:extLst>
          </p:cNvPr>
          <p:cNvSpPr/>
          <p:nvPr userDrawn="1"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01178-41C0-E3DF-B2D9-1C91182F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AE0BB-4B6B-D876-832A-6A4207D9E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8" name="Picture 4" descr="ABB Oy | LonMark">
            <a:extLst>
              <a:ext uri="{FF2B5EF4-FFF2-40B4-BE49-F238E27FC236}">
                <a16:creationId xmlns:a16="http://schemas.microsoft.com/office/drawing/2014/main" id="{FE172C12-6128-DD63-EBDE-65D221F972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377" y="6356350"/>
            <a:ext cx="982532" cy="38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FC21E2-5A86-5992-D511-0DBC7D2AF7BC}"/>
              </a:ext>
            </a:extLst>
          </p:cNvPr>
          <p:cNvSpPr/>
          <p:nvPr userDrawn="1"/>
        </p:nvSpPr>
        <p:spPr>
          <a:xfrm>
            <a:off x="838200" y="1690688"/>
            <a:ext cx="10515600" cy="1349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CBA18AF-6ADC-2F84-1E3C-935E70B716D9}"/>
              </a:ext>
            </a:extLst>
          </p:cNvPr>
          <p:cNvGrpSpPr/>
          <p:nvPr userDrawn="1"/>
        </p:nvGrpSpPr>
        <p:grpSpPr>
          <a:xfrm>
            <a:off x="838200" y="6305961"/>
            <a:ext cx="9983096" cy="373828"/>
            <a:chOff x="139850" y="3005773"/>
            <a:chExt cx="9983096" cy="373828"/>
          </a:xfrm>
          <a:solidFill>
            <a:schemeClr val="bg2">
              <a:lumMod val="75000"/>
            </a:schemeClr>
          </a:solidFill>
        </p:grpSpPr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559A4F34-ECC4-83F6-FD0D-ED044074FB67}"/>
                </a:ext>
              </a:extLst>
            </p:cNvPr>
            <p:cNvSpPr/>
            <p:nvPr userDrawn="1"/>
          </p:nvSpPr>
          <p:spPr>
            <a:xfrm>
              <a:off x="139850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Analysis</a:t>
              </a:r>
            </a:p>
          </p:txBody>
        </p:sp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92106818-B171-02A2-448F-4942E14B978E}"/>
                </a:ext>
              </a:extLst>
            </p:cNvPr>
            <p:cNvSpPr/>
            <p:nvPr userDrawn="1"/>
          </p:nvSpPr>
          <p:spPr>
            <a:xfrm>
              <a:off x="5131398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Recommendations</a:t>
              </a:r>
            </a:p>
          </p:txBody>
        </p:sp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9AB4E05B-238C-4C59-7FA0-5C2C348B884B}"/>
                </a:ext>
              </a:extLst>
            </p:cNvPr>
            <p:cNvSpPr/>
            <p:nvPr userDrawn="1"/>
          </p:nvSpPr>
          <p:spPr>
            <a:xfrm>
              <a:off x="2635624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Results</a:t>
              </a: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2744E175-B3FD-625F-6EDA-05A0865A17BC}"/>
                </a:ext>
              </a:extLst>
            </p:cNvPr>
            <p:cNvSpPr/>
            <p:nvPr userDrawn="1"/>
          </p:nvSpPr>
          <p:spPr>
            <a:xfrm>
              <a:off x="7627172" y="3005773"/>
              <a:ext cx="2495774" cy="373828"/>
            </a:xfrm>
            <a:prstGeom prst="chevr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0000"/>
                  </a:solidFill>
                </a:rPr>
                <a:t>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053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askerville Old Face" panose="020206020805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C5309-FA33-C4DE-C898-A26A235F405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askerville Old Face" panose="02020602080505020303" pitchFamily="18" charset="7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E1DDC-0283-F4D0-A388-8B851D51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C2669-8999-1182-1857-7BE43189E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4" descr="ABB Oy | LonMark">
            <a:extLst>
              <a:ext uri="{FF2B5EF4-FFF2-40B4-BE49-F238E27FC236}">
                <a16:creationId xmlns:a16="http://schemas.microsoft.com/office/drawing/2014/main" id="{943F08E9-E5A5-41B0-9B3A-EF97B0EC6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377" y="6356350"/>
            <a:ext cx="982532" cy="38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14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askerville Old Face" panose="020206020805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skerville Old Face" panose="02020602080505020303" pitchFamily="18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Presidentti Stubb jakoi ensimmäistä kertaa kansainvälistymispalkinnon: tänä  vuonna yksi palkituista on ABB | Pohjanmaa | Yle">
            <a:extLst>
              <a:ext uri="{FF2B5EF4-FFF2-40B4-BE49-F238E27FC236}">
                <a16:creationId xmlns:a16="http://schemas.microsoft.com/office/drawing/2014/main" id="{8E61B5B8-3E7D-8E36-F563-F196F7C0D9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C78272-5F7A-A205-11CB-A4B43420DD4F}"/>
              </a:ext>
            </a:extLst>
          </p:cNvPr>
          <p:cNvSpPr/>
          <p:nvPr userDrawn="1"/>
        </p:nvSpPr>
        <p:spPr>
          <a:xfrm>
            <a:off x="-1504" y="1"/>
            <a:ext cx="1219198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8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30D6-CAC0-58A9-C06D-589B31A27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86"/>
            <a:ext cx="10515600" cy="1325563"/>
          </a:xfrm>
        </p:spPr>
        <p:txBody>
          <a:bodyPr/>
          <a:lstStyle/>
          <a:p>
            <a:r>
              <a:rPr lang="en-US" sz="6400" b="1">
                <a:latin typeface="Baskerville Old Face" panose="02020602080505020303" pitchFamily="18" charset="77"/>
              </a:rPr>
              <a:t>ABB Case Study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8C71BF-7F05-92CA-68E1-3F20134CFA08}"/>
              </a:ext>
            </a:extLst>
          </p:cNvPr>
          <p:cNvSpPr txBox="1">
            <a:spLocks/>
          </p:cNvSpPr>
          <p:nvPr/>
        </p:nvSpPr>
        <p:spPr>
          <a:xfrm>
            <a:off x="838200" y="2633696"/>
            <a:ext cx="10515600" cy="132556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badi MT Condensed Light" panose="020B0306030101010103" pitchFamily="34" charset="77"/>
                <a:ea typeface="+mj-ea"/>
                <a:cs typeface="+mj-cs"/>
              </a:defRPr>
            </a:lvl1pPr>
          </a:lstStyle>
          <a:p>
            <a:r>
              <a:rPr lang="en-US" sz="5000" b="1">
                <a:effectLst/>
                <a:latin typeface="Baskerville Old Face" panose="02020602080505020303" pitchFamily="18" charset="77"/>
                <a:ea typeface="Aptos" panose="020B0004020202020204" pitchFamily="34" charset="0"/>
                <a:cs typeface="Arial" panose="020B0604020202020204" pitchFamily="34" charset="0"/>
              </a:rPr>
              <a:t>Reducing Lead Time Variability in ABB Drives Services</a:t>
            </a:r>
            <a:endParaRPr lang="en-CA" sz="5000" b="1">
              <a:effectLst/>
              <a:latin typeface="Baskerville Old Face" panose="02020602080505020303" pitchFamily="18" charset="77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2C0E0-C0A7-A424-7F28-C21715B8DC5F}"/>
              </a:ext>
            </a:extLst>
          </p:cNvPr>
          <p:cNvSpPr txBox="1"/>
          <p:nvPr/>
        </p:nvSpPr>
        <p:spPr>
          <a:xfrm>
            <a:off x="1661550" y="5509369"/>
            <a:ext cx="88753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>
                <a:solidFill>
                  <a:schemeClr val="bg1"/>
                </a:solidFill>
                <a:latin typeface="Baskerville Old Face" panose="02020602080505020303" pitchFamily="18" charset="77"/>
              </a:rPr>
              <a:t>Anh Pham		Vappu Valtonen		Thomas Vial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7FEB51-B132-DDC0-877E-C7E897DB9246}"/>
              </a:ext>
            </a:extLst>
          </p:cNvPr>
          <p:cNvSpPr/>
          <p:nvPr/>
        </p:nvSpPr>
        <p:spPr>
          <a:xfrm>
            <a:off x="4485861" y="1942144"/>
            <a:ext cx="3220278" cy="983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5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DF96-FB11-732F-B241-BD1C996D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askerville Old Face"/>
              </a:rPr>
              <a:t>Background </a:t>
            </a:r>
            <a:endParaRPr lang="en-US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D19C4408-95AC-025E-18F9-91905932928B}"/>
              </a:ext>
            </a:extLst>
          </p:cNvPr>
          <p:cNvSpPr txBox="1"/>
          <p:nvPr/>
        </p:nvSpPr>
        <p:spPr>
          <a:xfrm>
            <a:off x="866169" y="2283536"/>
            <a:ext cx="1007905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fi-FI" sz="2400">
                <a:latin typeface="Times New Roman"/>
                <a:cs typeface="Times New Roman"/>
              </a:rPr>
              <a:t>Objective: Indentify key drivers behind lead-time variation, backlog build-up, and capacity pressure</a:t>
            </a:r>
            <a:endParaRPr lang="fi-FI" sz="2400" dirty="0">
              <a:latin typeface="Times New Roman"/>
              <a:cs typeface="Times New Roman"/>
            </a:endParaRPr>
          </a:p>
          <a:p>
            <a:pPr marL="342900" indent="-342900">
              <a:buFont typeface="Courier New"/>
              <a:buChar char="o"/>
            </a:pPr>
            <a:r>
              <a:rPr lang="fi-FI" sz="2400">
                <a:latin typeface="Times New Roman"/>
                <a:cs typeface="Times New Roman"/>
              </a:rPr>
              <a:t>Order complexity and fluctuating demand creates variation in:</a:t>
            </a:r>
          </a:p>
          <a:p>
            <a:pPr marL="800100" lvl="1" indent="-342900">
              <a:buFont typeface="Courier New"/>
              <a:buChar char="o"/>
            </a:pPr>
            <a:r>
              <a:rPr lang="fi-FI" sz="2400">
                <a:latin typeface="Times New Roman"/>
                <a:cs typeface="Times New Roman"/>
              </a:rPr>
              <a:t>Lead times</a:t>
            </a:r>
          </a:p>
          <a:p>
            <a:pPr marL="800100" lvl="1" indent="-342900">
              <a:buFont typeface="Courier New"/>
              <a:buChar char="o"/>
            </a:pPr>
            <a:r>
              <a:rPr lang="fi-FI" sz="2400">
                <a:latin typeface="Times New Roman"/>
                <a:cs typeface="Times New Roman"/>
              </a:rPr>
              <a:t>Workload levels</a:t>
            </a:r>
          </a:p>
          <a:p>
            <a:pPr marL="800100" lvl="1" indent="-342900">
              <a:buFont typeface="Courier New"/>
              <a:buChar char="o"/>
            </a:pPr>
            <a:r>
              <a:rPr lang="fi-FI" sz="2400">
                <a:latin typeface="Times New Roman"/>
                <a:cs typeface="Times New Roman"/>
              </a:rPr>
              <a:t>Capacity utilization</a:t>
            </a:r>
          </a:p>
          <a:p>
            <a:pPr marL="342900" indent="-342900">
              <a:buFont typeface="Courier New"/>
              <a:buChar char="o"/>
            </a:pPr>
            <a:r>
              <a:rPr lang="fi-FI" sz="2400">
                <a:latin typeface="Times New Roman"/>
                <a:cs typeface="Times New Roman"/>
              </a:rPr>
              <a:t>These variations make short-term planning and delivery predictability challenging</a:t>
            </a:r>
          </a:p>
          <a:p>
            <a:pPr marL="285750" indent="-285750">
              <a:buFont typeface="Courier New"/>
              <a:buChar char="o"/>
            </a:pPr>
            <a:endParaRPr lang="fi-FI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890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07DAFB2-EE75-BB6A-5897-69E4C6CA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>
                <a:latin typeface="Baskerville Old Face"/>
              </a:rPr>
              <a:t>Analysis methods</a:t>
            </a:r>
            <a:endParaRPr lang="fi-FI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0D0B5610-CA6C-E448-471C-54C277158244}"/>
              </a:ext>
            </a:extLst>
          </p:cNvPr>
          <p:cNvSpPr txBox="1"/>
          <p:nvPr/>
        </p:nvSpPr>
        <p:spPr>
          <a:xfrm>
            <a:off x="840508" y="2244165"/>
            <a:ext cx="10037490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i-FI" sz="2000">
                <a:latin typeface="Times New Roman"/>
                <a:cs typeface="Times New Roman"/>
              </a:rPr>
              <a:t>Process flow review used to indentify delay points and bottlenecks</a:t>
            </a:r>
          </a:p>
          <a:p>
            <a:pPr marL="285750" indent="-285750">
              <a:buFont typeface="Arial"/>
              <a:buChar char="•"/>
            </a:pPr>
            <a:r>
              <a:rPr lang="fi-FI" sz="2000">
                <a:latin typeface="Times New Roman"/>
                <a:cs typeface="Times New Roman"/>
              </a:rPr>
              <a:t>Operational datasets analyzed to evalueate:</a:t>
            </a:r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Demand patterns </a:t>
            </a:r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Lead-time variability</a:t>
            </a:r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Backlog levels</a:t>
            </a:r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Capacity pressure</a:t>
            </a:r>
          </a:p>
          <a:p>
            <a:pPr marL="285750" indent="-285750">
              <a:buFont typeface="Arial"/>
              <a:buChar char="•"/>
            </a:pPr>
            <a:r>
              <a:rPr lang="fi-FI" sz="2000">
                <a:latin typeface="Times New Roman"/>
                <a:cs typeface="Times New Roman"/>
              </a:rPr>
              <a:t>Tools used:</a:t>
            </a:r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Excel (data preparation)</a:t>
            </a:r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Python (analysis)</a:t>
            </a:r>
            <a:endParaRPr lang="fi-FI"/>
          </a:p>
          <a:p>
            <a:pPr marL="742950" lvl="1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Power BI (dashboards)</a:t>
            </a:r>
          </a:p>
          <a:p>
            <a:pPr marL="285750" indent="-285750">
              <a:buFont typeface="Arial"/>
              <a:buChar char="•"/>
            </a:pPr>
            <a:r>
              <a:rPr lang="fi-FI" sz="2000">
                <a:latin typeface="Times New Roman"/>
                <a:cs typeface="Times New Roman"/>
              </a:rPr>
              <a:t>Focus: identify where time is spent and which stages create the largest planning uncertainty</a:t>
            </a:r>
          </a:p>
          <a:p>
            <a:pPr marL="285750" indent="-285750">
              <a:buFont typeface="Arial"/>
              <a:buChar char="•"/>
            </a:pP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61280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6696-653C-704E-8583-0601D1D2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71189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4F33-1DC0-8B30-1332-AE353091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Outcome analysis (Python): What drives lead time and variability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39A55-568F-525D-DEA6-66611CC1ED39}"/>
              </a:ext>
            </a:extLst>
          </p:cNvPr>
          <p:cNvSpPr txBox="1"/>
          <p:nvPr/>
        </p:nvSpPr>
        <p:spPr>
          <a:xfrm>
            <a:off x="838200" y="2190453"/>
            <a:ext cx="10515600" cy="2462213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r>
              <a:rPr lang="en-US" sz="2800">
                <a:latin typeface="Baskerville Old Face" panose="02020602080505020303" pitchFamily="18" charset="77"/>
              </a:rPr>
              <a:t>Retrofit/Modernization + DSW | 2023–2025 demand, 2025 capacity stress, timestamp lead times</a:t>
            </a:r>
          </a:p>
          <a:p>
            <a:endParaRPr lang="en-US" sz="26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We measured </a:t>
            </a:r>
            <a:r>
              <a:rPr lang="en-US" sz="2400" b="1">
                <a:latin typeface="Baskerville Old Face" panose="02020602080505020303" pitchFamily="18" charset="77"/>
              </a:rPr>
              <a:t>where time is actually spent</a:t>
            </a:r>
            <a:r>
              <a:rPr lang="en-US" sz="2400">
                <a:latin typeface="Baskerville Old Face" panose="02020602080505020303" pitchFamily="18" charset="77"/>
              </a:rPr>
              <a:t> (not just “average lead time”)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The main issue is </a:t>
            </a:r>
            <a:r>
              <a:rPr lang="en-US" sz="2400" b="1">
                <a:latin typeface="Baskerville Old Face" panose="02020602080505020303" pitchFamily="18" charset="77"/>
              </a:rPr>
              <a:t>waiting + uncertainty before work starts</a:t>
            </a:r>
            <a:endParaRPr lang="en-US" sz="24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Recommendations focus on </a:t>
            </a:r>
            <a:r>
              <a:rPr lang="en-US" sz="2400" b="1">
                <a:latin typeface="Baskerville Old Face" panose="02020602080505020303" pitchFamily="18" charset="77"/>
              </a:rPr>
              <a:t>visibility, predictability, and segmentation</a:t>
            </a:r>
            <a:endParaRPr lang="en-US" sz="240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7700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EECB-2B37-7DC8-0315-BBEDD6BD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6927-ADBA-13A3-8CF4-464AF48A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Data used and how we interpret lead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79F84-FE68-B188-2F92-0A3BC88A1114}"/>
              </a:ext>
            </a:extLst>
          </p:cNvPr>
          <p:cNvSpPr txBox="1"/>
          <p:nvPr/>
        </p:nvSpPr>
        <p:spPr>
          <a:xfrm>
            <a:off x="838200" y="2190453"/>
            <a:ext cx="10515600" cy="1815882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>
                <a:latin typeface="Baskerville Old Face" panose="02020602080505020303" pitchFamily="18" charset="77"/>
              </a:rPr>
              <a:t>Demand:</a:t>
            </a:r>
            <a:r>
              <a:rPr lang="en-US" sz="2800">
                <a:latin typeface="Baskerville Old Face" panose="02020602080505020303" pitchFamily="18" charset="77"/>
              </a:rPr>
              <a:t> monthly order intake (€), 2023–2025 (Retrofit + DSW)</a:t>
            </a:r>
          </a:p>
          <a:p>
            <a:r>
              <a:rPr lang="en-US" sz="2800" b="1">
                <a:latin typeface="Baskerville Old Face" panose="02020602080505020303" pitchFamily="18" charset="77"/>
              </a:rPr>
              <a:t>Capacity stress:</a:t>
            </a:r>
            <a:r>
              <a:rPr lang="en-US" sz="2800">
                <a:latin typeface="Baskerville Old Face" panose="02020602080505020303" pitchFamily="18" charset="77"/>
              </a:rPr>
              <a:t> overtime hours, 2025 (Retrofit + DSW)</a:t>
            </a:r>
          </a:p>
          <a:p>
            <a:r>
              <a:rPr lang="en-US" sz="2800" b="1">
                <a:latin typeface="Baskerville Old Face" panose="02020602080505020303" pitchFamily="18" charset="77"/>
              </a:rPr>
              <a:t>Lead time structure:</a:t>
            </a:r>
            <a:r>
              <a:rPr lang="en-US" sz="2800">
                <a:latin typeface="Baskerville Old Face" panose="02020602080505020303" pitchFamily="18" charset="77"/>
              </a:rPr>
              <a:t> timestamps to split total lead time into stages</a:t>
            </a:r>
          </a:p>
          <a:p>
            <a:r>
              <a:rPr lang="en-US" sz="2800">
                <a:latin typeface="Baskerville Old Face" panose="02020602080505020303" pitchFamily="18" charset="77"/>
              </a:rPr>
              <a:t>We report </a:t>
            </a:r>
            <a:r>
              <a:rPr lang="en-US" sz="2800" b="1">
                <a:latin typeface="Baskerville Old Face" panose="02020602080505020303" pitchFamily="18" charset="77"/>
              </a:rPr>
              <a:t>median + p90</a:t>
            </a:r>
            <a:r>
              <a:rPr lang="en-US" sz="2800">
                <a:latin typeface="Baskerville Old Face" panose="02020602080505020303" pitchFamily="18" charset="77"/>
              </a:rPr>
              <a:t> because lead times are </a:t>
            </a:r>
            <a:r>
              <a:rPr lang="en-US" sz="2800" b="1">
                <a:latin typeface="Baskerville Old Face" panose="02020602080505020303" pitchFamily="18" charset="77"/>
              </a:rPr>
              <a:t>right‑skewed</a:t>
            </a:r>
            <a:endParaRPr lang="en-US" sz="280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082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8C5E-81E9-16EF-FD8A-43ECF3C8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4D82-BFE3-257B-3037-F92E6775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Retrofit demand changed materially in 2025 (and it is lumpy)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B761B-238B-E780-3C9A-7F22A8D6D688}"/>
              </a:ext>
            </a:extLst>
          </p:cNvPr>
          <p:cNvSpPr txBox="1"/>
          <p:nvPr/>
        </p:nvSpPr>
        <p:spPr>
          <a:xfrm>
            <a:off x="7863840" y="2166212"/>
            <a:ext cx="3489960" cy="3600986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Retrofit yearly intake: </a:t>
            </a:r>
            <a:r>
              <a:rPr lang="en-US" sz="2000" b="1">
                <a:latin typeface="Baskerville Old Face" panose="02020602080505020303" pitchFamily="18" charset="77"/>
              </a:rPr>
              <a:t>€5.17M (2023) → €5.97M (2024) → €11.46M (2025)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DSW is more stable: </a:t>
            </a:r>
            <a:r>
              <a:rPr lang="en-US" sz="2000" b="1">
                <a:latin typeface="Baskerville Old Face" panose="02020602080505020303" pitchFamily="18" charset="77"/>
              </a:rPr>
              <a:t>€6.21M → €8.39M → €6.83M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Retrofit intake is </a:t>
            </a:r>
            <a:r>
              <a:rPr lang="en-US" sz="2000" b="1">
                <a:latin typeface="Baskerville Old Face" panose="02020602080505020303" pitchFamily="18" charset="77"/>
              </a:rPr>
              <a:t>more uneven month‑to‑month</a:t>
            </a:r>
            <a:r>
              <a:rPr lang="en-US" sz="2000">
                <a:latin typeface="Baskerville Old Face" panose="02020602080505020303" pitchFamily="18" charset="77"/>
              </a:rPr>
              <a:t> → queues build during peaks</a:t>
            </a:r>
          </a:p>
          <a:p>
            <a:endParaRPr lang="en-US" sz="2800">
              <a:latin typeface="Baskerville Old Face" panose="02020602080505020303" pitchFamily="18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9924F-4166-D190-F9B0-626D9D0A0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9440"/>
            <a:ext cx="7025640" cy="414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4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FC795-9636-9046-ABC5-AF20DA66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86941-884D-A476-2D8C-47A5B5B7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Overtime looks like a backlog symptom, not a simple ‘high demand’ reaction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A0F1E-20BE-9D3F-88AF-208B5179BBE6}"/>
              </a:ext>
            </a:extLst>
          </p:cNvPr>
          <p:cNvSpPr txBox="1"/>
          <p:nvPr/>
        </p:nvSpPr>
        <p:spPr>
          <a:xfrm>
            <a:off x="7863840" y="2124687"/>
            <a:ext cx="3489960" cy="3785652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Overtime shows </a:t>
            </a:r>
            <a:r>
              <a:rPr lang="en-US" sz="2000" b="1">
                <a:latin typeface="Baskerville Old Face" panose="02020602080505020303" pitchFamily="18" charset="77"/>
              </a:rPr>
              <a:t>distinct stress periods</a:t>
            </a:r>
            <a:r>
              <a:rPr lang="en-US" sz="2000">
                <a:latin typeface="Baskerville Old Face" panose="02020602080505020303" pitchFamily="18" charset="77"/>
              </a:rPr>
              <a:t> (spikes), especially in late year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Overtime is </a:t>
            </a:r>
            <a:r>
              <a:rPr lang="en-US" sz="2000" b="1">
                <a:latin typeface="Baskerville Old Face" panose="02020602080505020303" pitchFamily="18" charset="77"/>
              </a:rPr>
              <a:t>weakly correlated</a:t>
            </a:r>
            <a:r>
              <a:rPr lang="en-US" sz="2000">
                <a:latin typeface="Baskerville Old Face" panose="02020602080505020303" pitchFamily="18" charset="77"/>
              </a:rPr>
              <a:t> with same‑month intake (DSW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~ -</a:t>
            </a:r>
            <a:r>
              <a:rPr lang="en-US" sz="2000">
                <a:latin typeface="Baskerville Old Face" panose="02020602080505020303" pitchFamily="18" charset="77"/>
              </a:rPr>
              <a:t>0.11, Retrofit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~ -</a:t>
            </a:r>
            <a:r>
              <a:rPr lang="en-US" sz="2000">
                <a:latin typeface="Baskerville Old Face" panose="02020602080505020303" pitchFamily="18" charset="77"/>
              </a:rPr>
              <a:t>0.32)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Suggests overtime is driven by </a:t>
            </a:r>
            <a:r>
              <a:rPr lang="en-US" sz="2000" b="1">
                <a:latin typeface="Baskerville Old Face" panose="02020602080505020303" pitchFamily="18" charset="77"/>
              </a:rPr>
              <a:t>timing, batching, uncertainty, job mix</a:t>
            </a:r>
            <a:endParaRPr lang="en-US" sz="2000">
              <a:latin typeface="Baskerville Old Face" panose="02020602080505020303" pitchFamily="18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11BED-A6FD-CB64-4BC7-330922B86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9760"/>
            <a:ext cx="7025640" cy="4101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704EA-BA84-F24E-59F5-3987C0B4CD9D}"/>
              </a:ext>
            </a:extLst>
          </p:cNvPr>
          <p:cNvSpPr txBox="1"/>
          <p:nvPr/>
        </p:nvSpPr>
        <p:spPr>
          <a:xfrm>
            <a:off x="6154783" y="5991619"/>
            <a:ext cx="1709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latin typeface="Baskerville Old Face" panose="02020602080505020303" pitchFamily="18" charset="77"/>
              </a:rPr>
              <a:t>Note: correlation is weak</a:t>
            </a:r>
            <a:endParaRPr lang="en-US" sz="120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1524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50C5-E49E-5872-613B-EFDC221C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9F68-9E7E-3DD3-E4F3-69AC632A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Modernization lead time has a long tail (reliability problem)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6348C-3554-0986-E017-DBE1BC72C8B7}"/>
              </a:ext>
            </a:extLst>
          </p:cNvPr>
          <p:cNvSpPr txBox="1"/>
          <p:nvPr/>
        </p:nvSpPr>
        <p:spPr>
          <a:xfrm>
            <a:off x="7840981" y="2432462"/>
            <a:ext cx="3489960" cy="3170099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Total lead time: </a:t>
            </a:r>
            <a:r>
              <a:rPr lang="en-US" sz="2000" b="1">
                <a:latin typeface="Baskerville Old Face" panose="02020602080505020303" pitchFamily="18" charset="77"/>
              </a:rPr>
              <a:t>mean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000" b="1">
                <a:latin typeface="Baskerville Old Face" panose="02020602080505020303" pitchFamily="18" charset="77"/>
              </a:rPr>
              <a:t>138 days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median 112 days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Reliability issue: </a:t>
            </a:r>
            <a:r>
              <a:rPr lang="en-US" sz="2000" b="1">
                <a:latin typeface="Baskerville Old Face" panose="02020602080505020303" pitchFamily="18" charset="77"/>
              </a:rPr>
              <a:t>p90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sz="2000" b="1">
                <a:latin typeface="Baskerville Old Face" panose="02020602080505020303" pitchFamily="18" charset="77"/>
              </a:rPr>
              <a:t>287 days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max 753 days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Mean &gt; median → </a:t>
            </a:r>
            <a:r>
              <a:rPr lang="en-US" sz="2000" b="1">
                <a:latin typeface="Baskerville Old Face" panose="02020602080505020303" pitchFamily="18" charset="77"/>
              </a:rPr>
              <a:t>long tail</a:t>
            </a:r>
            <a:r>
              <a:rPr lang="en-US" sz="2000">
                <a:latin typeface="Baskerville Old Face" panose="02020602080505020303" pitchFamily="18" charset="77"/>
              </a:rPr>
              <a:t> drives customer dissatisfaction and planning risk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4E404-2CBD-6308-E5F9-DE839B17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1" y="1920358"/>
            <a:ext cx="7025640" cy="41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8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C8300-A7AF-F3C4-5DD1-44C85FC2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D649-E017-D9D7-CA25-D340081C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bottleneck is pre‑assembly waiting, not assembly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7C475-8015-A64A-EC2F-3D3E8E13ECAB}"/>
              </a:ext>
            </a:extLst>
          </p:cNvPr>
          <p:cNvSpPr txBox="1"/>
          <p:nvPr/>
        </p:nvSpPr>
        <p:spPr>
          <a:xfrm>
            <a:off x="6210302" y="3706509"/>
            <a:ext cx="5143498" cy="1938992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000" b="1">
                <a:latin typeface="Baskerville Old Face" panose="02020602080505020303" pitchFamily="18" charset="77"/>
              </a:rPr>
              <a:t>77%</a:t>
            </a:r>
            <a:r>
              <a:rPr lang="en-US" sz="2000">
                <a:latin typeface="Baskerville Old Face" panose="02020602080505020303" pitchFamily="18" charset="77"/>
              </a:rPr>
              <a:t> of total lead time occurs </a:t>
            </a:r>
            <a:r>
              <a:rPr lang="en-US" sz="2000" b="1">
                <a:latin typeface="Baskerville Old Face" panose="02020602080505020303" pitchFamily="18" charset="77"/>
              </a:rPr>
              <a:t>before assembly begins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Improvement lever: </a:t>
            </a:r>
            <a:r>
              <a:rPr lang="en-US" sz="2000" b="1">
                <a:latin typeface="Baskerville Old Face" panose="02020602080505020303" pitchFamily="18" charset="77"/>
              </a:rPr>
              <a:t>make the queue visible and manageable</a:t>
            </a:r>
            <a:endParaRPr lang="en-US" sz="2000">
              <a:latin typeface="Baskerville Old Face" panose="02020602080505020303" pitchFamily="18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6548D-5B91-8794-B2B5-A32A68B3C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46431"/>
            <a:ext cx="7772400" cy="150433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06A3D1-75B3-8698-A9F7-2D18E9B23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74473"/>
            <a:ext cx="5372102" cy="26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A527C1-9C1A-9ABE-61C9-5ED835658A06}"/>
              </a:ext>
            </a:extLst>
          </p:cNvPr>
          <p:cNvSpPr txBox="1"/>
          <p:nvPr/>
        </p:nvSpPr>
        <p:spPr>
          <a:xfrm>
            <a:off x="8610600" y="1822724"/>
            <a:ext cx="2743200" cy="1631216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Median </a:t>
            </a:r>
            <a:r>
              <a:rPr lang="en-US" sz="2000" b="1">
                <a:latin typeface="Baskerville Old Face" panose="02020602080505020303" pitchFamily="18" charset="77"/>
              </a:rPr>
              <a:t>SO → assembly start: 97 days</a:t>
            </a:r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Median </a:t>
            </a:r>
            <a:r>
              <a:rPr lang="en-US" sz="2000" b="1">
                <a:latin typeface="Baskerville Old Face" panose="02020602080505020303" pitchFamily="18" charset="77"/>
              </a:rPr>
              <a:t>assembly duration: 5 days</a:t>
            </a:r>
          </a:p>
        </p:txBody>
      </p:sp>
    </p:spTree>
    <p:extLst>
      <p:ext uri="{BB962C8B-B14F-4D97-AF65-F5344CB8AC3E}">
        <p14:creationId xmlns:p14="http://schemas.microsoft.com/office/powerpoint/2010/main" val="91233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57C5-59C4-C2AE-58AA-E6D2EA1B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1C69-DFF4-2951-46C1-5010FBFD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Different order types need different planning rules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DB5E5-FC33-B227-ADC9-97FC1E96B3E6}"/>
              </a:ext>
            </a:extLst>
          </p:cNvPr>
          <p:cNvSpPr txBox="1"/>
          <p:nvPr/>
        </p:nvSpPr>
        <p:spPr>
          <a:xfrm>
            <a:off x="7668491" y="2265877"/>
            <a:ext cx="3685309" cy="3477875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Median </a:t>
            </a:r>
            <a:r>
              <a:rPr lang="en-US" sz="2000" b="1">
                <a:latin typeface="Baskerville Old Face" panose="02020602080505020303" pitchFamily="18" charset="77"/>
              </a:rPr>
              <a:t>SO → PGI:</a:t>
            </a:r>
            <a:r>
              <a:rPr lang="en-US" sz="2000">
                <a:latin typeface="Baskerville Old Face" panose="02020602080505020303" pitchFamily="18" charset="77"/>
              </a:rPr>
              <a:t> Standard </a:t>
            </a:r>
            <a:r>
              <a:rPr lang="en-US" sz="2000" b="1">
                <a:latin typeface="Baskerville Old Face" panose="02020602080505020303" pitchFamily="18" charset="77"/>
              </a:rPr>
              <a:t>61 days</a:t>
            </a:r>
            <a:r>
              <a:rPr lang="en-US" sz="2000">
                <a:latin typeface="Baskerville Old Face" panose="02020602080505020303" pitchFamily="18" charset="77"/>
              </a:rPr>
              <a:t> vs OBE </a:t>
            </a:r>
            <a:r>
              <a:rPr lang="en-US" sz="2000" b="1">
                <a:latin typeface="Baskerville Old Face" panose="02020602080505020303" pitchFamily="18" charset="77"/>
              </a:rPr>
              <a:t>131 days</a:t>
            </a:r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Median </a:t>
            </a:r>
            <a:r>
              <a:rPr lang="en-US" sz="2000" b="1">
                <a:latin typeface="Baskerville Old Face" panose="02020602080505020303" pitchFamily="18" charset="77"/>
              </a:rPr>
              <a:t>SO → assembly start:</a:t>
            </a:r>
            <a:r>
              <a:rPr lang="en-US" sz="2000">
                <a:latin typeface="Baskerville Old Face" panose="02020602080505020303" pitchFamily="18" charset="77"/>
              </a:rPr>
              <a:t> Standard </a:t>
            </a:r>
            <a:r>
              <a:rPr lang="en-US" sz="2000" b="1">
                <a:latin typeface="Baskerville Old Face" panose="02020602080505020303" pitchFamily="18" charset="77"/>
              </a:rPr>
              <a:t>46 days</a:t>
            </a:r>
            <a:r>
              <a:rPr lang="en-US" sz="2000">
                <a:latin typeface="Baskerville Old Face" panose="02020602080505020303" pitchFamily="18" charset="77"/>
              </a:rPr>
              <a:t> vs OBE </a:t>
            </a:r>
            <a:r>
              <a:rPr lang="en-US" sz="2000" b="1">
                <a:latin typeface="Baskerville Old Face" panose="02020602080505020303" pitchFamily="18" charset="77"/>
              </a:rPr>
              <a:t>113 days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Difference is mainly </a:t>
            </a:r>
            <a:r>
              <a:rPr lang="en-US" sz="2000" b="1">
                <a:latin typeface="Baskerville Old Face" panose="02020602080505020303" pitchFamily="18" charset="77"/>
              </a:rPr>
              <a:t>waiting</a:t>
            </a:r>
            <a:r>
              <a:rPr lang="en-US" sz="2000">
                <a:latin typeface="Baskerville Old Face" panose="02020602080505020303" pitchFamily="18" charset="77"/>
              </a:rPr>
              <a:t>, not longer assembly work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Implication: </a:t>
            </a:r>
            <a:r>
              <a:rPr lang="en-US" sz="2000" b="1">
                <a:latin typeface="Baskerville Old Face" panose="02020602080505020303" pitchFamily="18" charset="77"/>
              </a:rPr>
              <a:t>separate expectations + prioritization</a:t>
            </a:r>
            <a:r>
              <a:rPr lang="en-US" sz="2000">
                <a:latin typeface="Baskerville Old Face" panose="02020602080505020303" pitchFamily="18" charset="77"/>
              </a:rPr>
              <a:t> by type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07BE86A-6585-EF46-6345-AD3678ED7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68197"/>
            <a:ext cx="6622473" cy="407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946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E154-5D14-7416-E677-ECB90C04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5F9-8D5D-5DCF-A578-A2124DB0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DSW variability comes mainly before ABB can start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960C5-78C3-061D-F162-45847754EA94}"/>
              </a:ext>
            </a:extLst>
          </p:cNvPr>
          <p:cNvSpPr txBox="1"/>
          <p:nvPr/>
        </p:nvSpPr>
        <p:spPr>
          <a:xfrm>
            <a:off x="7355840" y="4014768"/>
            <a:ext cx="3997959" cy="1938992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Inbound median </a:t>
            </a:r>
            <a:r>
              <a:rPr lang="en-US" sz="2000" b="1">
                <a:latin typeface="Baskerville Old Face" panose="02020602080505020303" pitchFamily="18" charset="77"/>
              </a:rPr>
              <a:t>19 days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p90 128 days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max 796 days</a:t>
            </a:r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Tail risk is substantial (many cases exceed 30–60 days)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This inbound uncertainty causes </a:t>
            </a:r>
            <a:r>
              <a:rPr lang="en-US" sz="2000" b="1">
                <a:latin typeface="Baskerville Old Face" panose="02020602080505020303" pitchFamily="18" charset="77"/>
              </a:rPr>
              <a:t>unpredictable workload arrivals</a:t>
            </a:r>
            <a:endParaRPr lang="en-US" sz="2000">
              <a:latin typeface="Baskerville Old Face" panose="02020602080505020303" pitchFamily="18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0ABCA-28DF-3580-76D7-C8AE5A693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977033"/>
            <a:ext cx="6517640" cy="3976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375D14-9010-C589-48B8-E8A1420A5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977033"/>
            <a:ext cx="3855719" cy="203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4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82AE-67EE-2396-1FF9-C1D0EA2C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AFF7-5367-79ED-3F0D-8379C378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Once the unit is received, processing is typically quick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46EFC-41C5-4E3B-541F-0F5CFBF846ED}"/>
              </a:ext>
            </a:extLst>
          </p:cNvPr>
          <p:cNvSpPr txBox="1"/>
          <p:nvPr/>
        </p:nvSpPr>
        <p:spPr>
          <a:xfrm>
            <a:off x="2129790" y="3693160"/>
            <a:ext cx="7932420" cy="1631216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Internal execution (Return delivery → release): </a:t>
            </a:r>
            <a:r>
              <a:rPr lang="en-US" sz="2000" b="1">
                <a:latin typeface="Baskerville Old Face" panose="02020602080505020303" pitchFamily="18" charset="77"/>
              </a:rPr>
              <a:t>median 1 day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p90 8 days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Most cases are completed quickly after receipt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Implication: focus improvement effort </a:t>
            </a:r>
            <a:r>
              <a:rPr lang="en-US" sz="2000" b="1">
                <a:latin typeface="Baskerville Old Face" panose="02020602080505020303" pitchFamily="18" charset="77"/>
              </a:rPr>
              <a:t>upstream</a:t>
            </a:r>
            <a:r>
              <a:rPr lang="en-US" sz="2000">
                <a:latin typeface="Baskerville Old Face" panose="02020602080505020303" pitchFamily="18" charset="77"/>
              </a:rPr>
              <a:t>, not on shop-floor speed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01BC3-19A6-A92B-DB2E-77E7EE4E8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09233"/>
            <a:ext cx="10134600" cy="65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80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548AC-96D9-4D98-C422-AC75AA34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D730-E8B8-C3A0-5F55-21564902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Quotation approval adds lead time and uncertainty upstream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00F61-D2A0-73C0-2100-D4B59AAB6AFD}"/>
              </a:ext>
            </a:extLst>
          </p:cNvPr>
          <p:cNvSpPr txBox="1"/>
          <p:nvPr/>
        </p:nvSpPr>
        <p:spPr>
          <a:xfrm>
            <a:off x="2129790" y="3693160"/>
            <a:ext cx="7932420" cy="1631216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Quotation approval: </a:t>
            </a:r>
            <a:r>
              <a:rPr lang="en-US" sz="2000" b="1">
                <a:latin typeface="Baskerville Old Face" panose="02020602080505020303" pitchFamily="18" charset="77"/>
              </a:rPr>
              <a:t>median 22 days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p90 66 days</a:t>
            </a:r>
            <a:r>
              <a:rPr lang="en-US" sz="2000">
                <a:latin typeface="Baskerville Old Face" panose="02020602080505020303" pitchFamily="18" charset="77"/>
              </a:rPr>
              <a:t>, </a:t>
            </a:r>
            <a:r>
              <a:rPr lang="en-US" sz="2000" b="1">
                <a:latin typeface="Baskerville Old Face" panose="02020602080505020303" pitchFamily="18" charset="77"/>
              </a:rPr>
              <a:t>max 111 days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Not only adds time — it also blocks scheduling (“go/no‑go” uncertainty)</a:t>
            </a:r>
          </a:p>
          <a:p>
            <a:endParaRPr lang="en-US" sz="2000">
              <a:latin typeface="Baskerville Old Face" panose="02020602080505020303" pitchFamily="18" charset="77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>
                <a:latin typeface="Baskerville Old Face" panose="02020602080505020303" pitchFamily="18" charset="77"/>
              </a:rPr>
              <a:t>Treat as a KPI with clear targets and customer expectations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7BD65-2494-E5B0-34DE-171C93485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39981"/>
            <a:ext cx="7772400" cy="98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02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CA80-C042-480E-6E50-5AB6D39A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>
                <a:latin typeface="Baskerville Old Face"/>
              </a:rPr>
              <a:t>Capacity and planning dashboard</a:t>
            </a:r>
            <a:endParaRPr lang="fi-FI"/>
          </a:p>
        </p:txBody>
      </p:sp>
      <p:pic>
        <p:nvPicPr>
          <p:cNvPr id="3" name="Kuva 2" descr="Kuva, joka sisältää kohteen teksti, kuvakaappaus, diagrammi, kartta&#10;&#10;Tekoälyllä luotu sisältö saattaa olla virheellistä.">
            <a:extLst>
              <a:ext uri="{FF2B5EF4-FFF2-40B4-BE49-F238E27FC236}">
                <a16:creationId xmlns:a16="http://schemas.microsoft.com/office/drawing/2014/main" id="{5EA4FB2D-8A93-029D-A339-02E4DBE50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722" y="2259517"/>
            <a:ext cx="4423088" cy="2372329"/>
          </a:xfrm>
          <a:prstGeom prst="rect">
            <a:avLst/>
          </a:prstGeom>
        </p:spPr>
      </p:pic>
      <p:sp>
        <p:nvSpPr>
          <p:cNvPr id="4" name="Tekstiruutu 3">
            <a:extLst>
              <a:ext uri="{FF2B5EF4-FFF2-40B4-BE49-F238E27FC236}">
                <a16:creationId xmlns:a16="http://schemas.microsoft.com/office/drawing/2014/main" id="{FF9EA56F-3D61-E118-68C4-99850A4C33F4}"/>
              </a:ext>
            </a:extLst>
          </p:cNvPr>
          <p:cNvSpPr txBox="1"/>
          <p:nvPr/>
        </p:nvSpPr>
        <p:spPr>
          <a:xfrm>
            <a:off x="1267006" y="4815517"/>
            <a:ext cx="100882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fi-FI">
                <a:latin typeface="Times New Roman"/>
                <a:cs typeface="Times New Roman"/>
              </a:rPr>
              <a:t>Baseline scenario shows capacity pressure and overtime-driven recovery</a:t>
            </a:r>
          </a:p>
          <a:p>
            <a:pPr marL="285750" indent="-285750">
              <a:buFont typeface="Courier New"/>
              <a:buChar char="o"/>
            </a:pPr>
            <a:r>
              <a:rPr lang="fi-FI">
                <a:latin typeface="Times New Roman"/>
                <a:cs typeface="Times New Roman"/>
              </a:rPr>
              <a:t>Improved planning scenario shows: positive montly capacity gap, more balanced capacity utilization</a:t>
            </a:r>
          </a:p>
          <a:p>
            <a:pPr marL="285750" indent="-285750">
              <a:buFont typeface="Courier New"/>
              <a:buChar char="o"/>
            </a:pPr>
            <a:r>
              <a:rPr lang="fi-FI">
                <a:latin typeface="Times New Roman"/>
                <a:cs typeface="Times New Roman"/>
              </a:rPr>
              <a:t>Results indicates that workload balancing imrpoves capacity stability without increading capacity</a:t>
            </a:r>
            <a:endParaRPr lang="fi-FI" sz="2000">
              <a:latin typeface="Times New Roman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fi-FI">
                <a:latin typeface="Times New Roman"/>
                <a:cs typeface="Times New Roman"/>
              </a:rPr>
              <a:t>Implication: planning improvements can reduce capacity pressure without major resource increases</a:t>
            </a:r>
          </a:p>
        </p:txBody>
      </p:sp>
      <p:pic>
        <p:nvPicPr>
          <p:cNvPr id="6" name="Kuva 5" descr="Kuva, joka sisältää kohteen teksti, kuvakaappaus, kartta, diagrammi&#10;&#10;Tekoälyllä luotu sisältö saattaa olla virheellistä.">
            <a:extLst>
              <a:ext uri="{FF2B5EF4-FFF2-40B4-BE49-F238E27FC236}">
                <a16:creationId xmlns:a16="http://schemas.microsoft.com/office/drawing/2014/main" id="{8E4A683E-0789-469B-E8E4-B19AD4EC6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736" y="2255940"/>
            <a:ext cx="4128418" cy="235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55D48FB-E1EF-D530-516D-254350E4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>
                <a:latin typeface="Baskerville Old Face"/>
              </a:rPr>
              <a:t>Lead-time strcuture dashboard</a:t>
            </a:r>
            <a:endParaRPr lang="fi-FI"/>
          </a:p>
        </p:txBody>
      </p:sp>
      <p:pic>
        <p:nvPicPr>
          <p:cNvPr id="3" name="Kuva 2" descr="Kuva, joka sisältää kohteen teksti, diagrammi, kuvakaappaus, Tontti&#10;&#10;Tekoälyllä luotu sisältö saattaa olla virheellistä.">
            <a:extLst>
              <a:ext uri="{FF2B5EF4-FFF2-40B4-BE49-F238E27FC236}">
                <a16:creationId xmlns:a16="http://schemas.microsoft.com/office/drawing/2014/main" id="{B122E7D7-067F-A3C9-F31D-3EA76CC31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09" y="2380081"/>
            <a:ext cx="5987092" cy="3377422"/>
          </a:xfrm>
          <a:prstGeom prst="rect">
            <a:avLst/>
          </a:prstGeom>
        </p:spPr>
      </p:pic>
      <p:sp>
        <p:nvSpPr>
          <p:cNvPr id="4" name="Tekstiruutu 3">
            <a:extLst>
              <a:ext uri="{FF2B5EF4-FFF2-40B4-BE49-F238E27FC236}">
                <a16:creationId xmlns:a16="http://schemas.microsoft.com/office/drawing/2014/main" id="{52005109-EBCB-92AB-25C9-E6542486ED96}"/>
              </a:ext>
            </a:extLst>
          </p:cNvPr>
          <p:cNvSpPr txBox="1"/>
          <p:nvPr/>
        </p:nvSpPr>
        <p:spPr>
          <a:xfrm>
            <a:off x="7143750" y="2418990"/>
            <a:ext cx="4554028" cy="33363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fi-FI" sz="1900">
                <a:latin typeface="Times New Roman"/>
                <a:cs typeface="Times New Roman"/>
              </a:rPr>
              <a:t>Median toal lead time around 112 days with high variability</a:t>
            </a:r>
          </a:p>
          <a:p>
            <a:pPr marL="285750" indent="-285750">
              <a:buFont typeface="Courier New"/>
              <a:buChar char="o"/>
            </a:pPr>
            <a:r>
              <a:rPr lang="fi-FI" sz="1900">
                <a:latin typeface="Times New Roman"/>
                <a:cs typeface="Times New Roman"/>
              </a:rPr>
              <a:t>Majority of total time occurs before assembly start</a:t>
            </a:r>
          </a:p>
          <a:p>
            <a:pPr marL="285750" indent="-285750">
              <a:buFont typeface="Courier New"/>
              <a:buChar char="o"/>
            </a:pPr>
            <a:r>
              <a:rPr lang="fi-FI" sz="1900">
                <a:latin typeface="Times New Roman"/>
                <a:cs typeface="Times New Roman"/>
              </a:rPr>
              <a:t>Assembly and delivery stages are short and stable</a:t>
            </a:r>
          </a:p>
          <a:p>
            <a:pPr marL="285750" indent="-285750">
              <a:buFont typeface="Courier New"/>
              <a:buChar char="o"/>
            </a:pPr>
            <a:r>
              <a:rPr lang="fi-FI" sz="1900">
                <a:latin typeface="Times New Roman"/>
                <a:cs typeface="Times New Roman"/>
              </a:rPr>
              <a:t>Long lead times driven mainly by queu waiting and readiness delays</a:t>
            </a:r>
          </a:p>
          <a:p>
            <a:pPr marL="285750" indent="-285750">
              <a:buFont typeface="Courier New"/>
              <a:buChar char="o"/>
            </a:pPr>
            <a:r>
              <a:rPr lang="fi-FI" sz="1900">
                <a:latin typeface="Times New Roman"/>
                <a:cs typeface="Times New Roman"/>
              </a:rPr>
              <a:t>Improvement focus: queue visibility and readiness </a:t>
            </a:r>
          </a:p>
          <a:p>
            <a:pPr marL="285750" indent="-285750">
              <a:buFont typeface="Courier New"/>
              <a:buChar char="o"/>
            </a:pP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45445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B183CEB-8A51-52DC-57BD-C11E305D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>
                <a:latin typeface="Baskerville Old Face"/>
              </a:rPr>
              <a:t>Repair flow dashboard</a:t>
            </a:r>
            <a:endParaRPr lang="fi-FI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F75E9A49-5952-3FED-69BD-20110E78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95" y="2236308"/>
            <a:ext cx="5819415" cy="3363044"/>
          </a:xfrm>
          <a:prstGeom prst="rect">
            <a:avLst/>
          </a:prstGeom>
        </p:spPr>
      </p:pic>
      <p:sp>
        <p:nvSpPr>
          <p:cNvPr id="4" name="Tekstiruutu 3">
            <a:extLst>
              <a:ext uri="{FF2B5EF4-FFF2-40B4-BE49-F238E27FC236}">
                <a16:creationId xmlns:a16="http://schemas.microsoft.com/office/drawing/2014/main" id="{84586C70-DBDF-DAC1-EDBE-D64E28BBBA37}"/>
              </a:ext>
            </a:extLst>
          </p:cNvPr>
          <p:cNvSpPr txBox="1"/>
          <p:nvPr/>
        </p:nvSpPr>
        <p:spPr>
          <a:xfrm>
            <a:off x="7081748" y="2403714"/>
            <a:ext cx="428625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Internal repair execution is typically fast and stable</a:t>
            </a:r>
          </a:p>
          <a:p>
            <a:pPr marL="285750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Workload peaks driven by uneven arrival timing of units</a:t>
            </a:r>
          </a:p>
          <a:p>
            <a:pPr marL="285750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Long-tail cases mainly caused by inbound uncertainty</a:t>
            </a:r>
          </a:p>
          <a:p>
            <a:pPr marL="285750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Main planning challenge: arrival predictability, not execution duration</a:t>
            </a:r>
          </a:p>
          <a:p>
            <a:pPr marL="285750" indent="-285750">
              <a:buFont typeface="Courier New"/>
              <a:buChar char="o"/>
            </a:pPr>
            <a:r>
              <a:rPr lang="fi-FI" sz="2000">
                <a:latin typeface="Times New Roman"/>
                <a:cs typeface="Times New Roman"/>
              </a:rPr>
              <a:t>Improvement focus: inbound pipeline segmentation and coordination</a:t>
            </a:r>
          </a:p>
        </p:txBody>
      </p:sp>
    </p:spTree>
    <p:extLst>
      <p:ext uri="{BB962C8B-B14F-4D97-AF65-F5344CB8AC3E}">
        <p14:creationId xmlns:p14="http://schemas.microsoft.com/office/powerpoint/2010/main" val="12257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25FF-0B1B-3DC5-F7D4-D0A1A7EA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7CCF-8ACF-8D82-8C34-CC0F8035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the data points to (and what we propose)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C7537AF-F2F0-8D67-1379-A88D093D7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77223"/>
              </p:ext>
            </p:extLst>
          </p:nvPr>
        </p:nvGraphicFramePr>
        <p:xfrm>
          <a:off x="838200" y="2092960"/>
          <a:ext cx="10515600" cy="3860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19960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3297322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Baskerville Old Face" panose="02020602080505020303" pitchFamily="18" charset="77"/>
                        </a:rP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Baskerville Old Face" panose="02020602080505020303" pitchFamily="18" charset="77"/>
                        </a:rPr>
                        <a:t>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8829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latin typeface="Baskerville Old Face" panose="02020602080505020303" pitchFamily="18" charset="77"/>
                        </a:rPr>
                        <a:t>77% of Modernization lead time is pre‑assembly 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make backlog + readiness status visible; track “blocked reasons”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05803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Retrofit demand volatility + overtime not tracking intake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forecast risk using history; plan releases, not firefights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96636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inbound time long‑tailed; internal execution typically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separate fast-track vs high‑uncertainty cases; different follow-ups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233717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approval median 22 days, p90 66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Baskerville Old Face" panose="02020602080505020303" pitchFamily="18" charset="77"/>
                        </a:rPr>
                        <a:t>standardize + KPI + improve customer coordination / automation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55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20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53E2-D985-7649-3C1C-56866906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64B1D-2B07-F493-CF24-9B0CECF9CA25}"/>
              </a:ext>
            </a:extLst>
          </p:cNvPr>
          <p:cNvSpPr txBox="1"/>
          <p:nvPr/>
        </p:nvSpPr>
        <p:spPr>
          <a:xfrm>
            <a:off x="2223083" y="2122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09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2CC4-6D69-EBF2-31D6-7599CAE8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0934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Overview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6AA293-1FD8-3DC8-2234-DC2C4DC27935}"/>
              </a:ext>
            </a:extLst>
          </p:cNvPr>
          <p:cNvGrpSpPr/>
          <p:nvPr/>
        </p:nvGrpSpPr>
        <p:grpSpPr>
          <a:xfrm>
            <a:off x="1835150" y="1104901"/>
            <a:ext cx="8521700" cy="1229846"/>
            <a:chOff x="2716696" y="3066417"/>
            <a:chExt cx="8212866" cy="12613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A86461F-1C32-9B1B-E634-C3616762689E}"/>
                </a:ext>
              </a:extLst>
            </p:cNvPr>
            <p:cNvSpPr/>
            <p:nvPr/>
          </p:nvSpPr>
          <p:spPr>
            <a:xfrm>
              <a:off x="10406102" y="3189625"/>
              <a:ext cx="523460" cy="101496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06BEE17-79C1-CD12-2FE2-E97C877BADBD}"/>
                </a:ext>
              </a:extLst>
            </p:cNvPr>
            <p:cNvSpPr/>
            <p:nvPr/>
          </p:nvSpPr>
          <p:spPr>
            <a:xfrm>
              <a:off x="3085138" y="3140616"/>
              <a:ext cx="7582694" cy="1112984"/>
            </a:xfrm>
            <a:prstGeom prst="roundRect">
              <a:avLst/>
            </a:prstGeom>
            <a:solidFill>
              <a:schemeClr val="bg2"/>
            </a:solidFill>
            <a:ln w="9842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600">
                <a:solidFill>
                  <a:schemeClr val="tx1"/>
                </a:solidFill>
                <a:latin typeface="Baskerville Old Face" panose="02020602080505020303" pitchFamily="18" charset="77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39C6FF7-E286-A1E2-D87B-528BC9C1412B}"/>
                </a:ext>
              </a:extLst>
            </p:cNvPr>
            <p:cNvSpPr/>
            <p:nvPr/>
          </p:nvSpPr>
          <p:spPr>
            <a:xfrm>
              <a:off x="2716696" y="3066417"/>
              <a:ext cx="1381369" cy="1261382"/>
            </a:xfrm>
            <a:prstGeom prst="ellipse">
              <a:avLst/>
            </a:prstGeom>
            <a:solidFill>
              <a:schemeClr val="bg2"/>
            </a:solidFill>
            <a:ln w="1270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>
                  <a:solidFill>
                    <a:schemeClr val="tx1"/>
                  </a:solidFill>
                  <a:latin typeface="Baskerville Old Face" panose="02020602080505020303" pitchFamily="18" charset="77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0CF51F-8834-EAD5-8D95-FC0D0C1C9FD2}"/>
              </a:ext>
            </a:extLst>
          </p:cNvPr>
          <p:cNvGrpSpPr/>
          <p:nvPr/>
        </p:nvGrpSpPr>
        <p:grpSpPr>
          <a:xfrm>
            <a:off x="1835150" y="2524949"/>
            <a:ext cx="8521700" cy="1229846"/>
            <a:chOff x="2716696" y="3066417"/>
            <a:chExt cx="8212866" cy="1261382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1AE7871-15E4-45AA-CD14-5D24AD927EE4}"/>
                </a:ext>
              </a:extLst>
            </p:cNvPr>
            <p:cNvSpPr/>
            <p:nvPr/>
          </p:nvSpPr>
          <p:spPr>
            <a:xfrm>
              <a:off x="10406102" y="3189625"/>
              <a:ext cx="523460" cy="101496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135DB19-64CA-6662-E4B3-389E4F43B60F}"/>
                </a:ext>
              </a:extLst>
            </p:cNvPr>
            <p:cNvSpPr/>
            <p:nvPr/>
          </p:nvSpPr>
          <p:spPr>
            <a:xfrm>
              <a:off x="3085138" y="3140616"/>
              <a:ext cx="7582694" cy="1112984"/>
            </a:xfrm>
            <a:prstGeom prst="roundRect">
              <a:avLst/>
            </a:prstGeom>
            <a:solidFill>
              <a:schemeClr val="bg2"/>
            </a:solidFill>
            <a:ln w="9842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/>
                <a:t>	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47DFAC7-6196-3E16-41DA-B91360703953}"/>
                </a:ext>
              </a:extLst>
            </p:cNvPr>
            <p:cNvSpPr/>
            <p:nvPr/>
          </p:nvSpPr>
          <p:spPr>
            <a:xfrm>
              <a:off x="2716696" y="3066417"/>
              <a:ext cx="1381369" cy="1261382"/>
            </a:xfrm>
            <a:prstGeom prst="ellipse">
              <a:avLst/>
            </a:prstGeom>
            <a:solidFill>
              <a:schemeClr val="bg2"/>
            </a:solidFill>
            <a:ln w="1270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>
                  <a:solidFill>
                    <a:schemeClr val="tx1"/>
                  </a:solidFill>
                  <a:latin typeface="Baskerville Old Face" panose="02020602080505020303" pitchFamily="18" charset="77"/>
                </a:rPr>
                <a:t>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C45596-F863-AFB8-7FE2-519317F83146}"/>
              </a:ext>
            </a:extLst>
          </p:cNvPr>
          <p:cNvGrpSpPr/>
          <p:nvPr/>
        </p:nvGrpSpPr>
        <p:grpSpPr>
          <a:xfrm>
            <a:off x="1835150" y="3939385"/>
            <a:ext cx="8521700" cy="1229846"/>
            <a:chOff x="2716696" y="3066417"/>
            <a:chExt cx="8212866" cy="126138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788FE04B-D11C-AA98-6624-76BC1A351C6A}"/>
                </a:ext>
              </a:extLst>
            </p:cNvPr>
            <p:cNvSpPr/>
            <p:nvPr/>
          </p:nvSpPr>
          <p:spPr>
            <a:xfrm>
              <a:off x="10406102" y="3189625"/>
              <a:ext cx="523460" cy="101496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C8AF113-55CF-73D2-CD92-46BFD7F1F657}"/>
                </a:ext>
              </a:extLst>
            </p:cNvPr>
            <p:cNvSpPr/>
            <p:nvPr/>
          </p:nvSpPr>
          <p:spPr>
            <a:xfrm>
              <a:off x="3085138" y="3140616"/>
              <a:ext cx="7582694" cy="1112984"/>
            </a:xfrm>
            <a:prstGeom prst="roundRect">
              <a:avLst/>
            </a:prstGeom>
            <a:solidFill>
              <a:schemeClr val="bg2"/>
            </a:solidFill>
            <a:ln w="9842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25A0CD-B69D-E856-DC78-A69779A776DC}"/>
                </a:ext>
              </a:extLst>
            </p:cNvPr>
            <p:cNvSpPr/>
            <p:nvPr/>
          </p:nvSpPr>
          <p:spPr>
            <a:xfrm>
              <a:off x="2716696" y="3066417"/>
              <a:ext cx="1381369" cy="1261382"/>
            </a:xfrm>
            <a:prstGeom prst="ellipse">
              <a:avLst/>
            </a:prstGeom>
            <a:solidFill>
              <a:schemeClr val="bg2"/>
            </a:solidFill>
            <a:ln w="1270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>
                  <a:solidFill>
                    <a:schemeClr val="tx1"/>
                  </a:solidFill>
                  <a:latin typeface="Baskerville Old Face" panose="02020602080505020303" pitchFamily="18" charset="77"/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625074-3FFD-49AD-4003-8C4FC91C346B}"/>
              </a:ext>
            </a:extLst>
          </p:cNvPr>
          <p:cNvGrpSpPr/>
          <p:nvPr/>
        </p:nvGrpSpPr>
        <p:grpSpPr>
          <a:xfrm>
            <a:off x="1847850" y="5353821"/>
            <a:ext cx="8509000" cy="1229846"/>
            <a:chOff x="2716696" y="3066417"/>
            <a:chExt cx="8212866" cy="1261382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B32CA00-58B5-A4E6-0521-12D6FC6F2198}"/>
                </a:ext>
              </a:extLst>
            </p:cNvPr>
            <p:cNvSpPr/>
            <p:nvPr/>
          </p:nvSpPr>
          <p:spPr>
            <a:xfrm>
              <a:off x="10406102" y="3189625"/>
              <a:ext cx="523460" cy="101496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CE584138-250F-BB66-74EB-9DE379DA1DBE}"/>
                </a:ext>
              </a:extLst>
            </p:cNvPr>
            <p:cNvSpPr/>
            <p:nvPr/>
          </p:nvSpPr>
          <p:spPr>
            <a:xfrm>
              <a:off x="3085138" y="3140616"/>
              <a:ext cx="7582694" cy="1112984"/>
            </a:xfrm>
            <a:prstGeom prst="roundRect">
              <a:avLst/>
            </a:prstGeom>
            <a:solidFill>
              <a:schemeClr val="bg2"/>
            </a:solidFill>
            <a:ln w="9842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0EE607C-1950-9D1F-CA23-B3395CD48DED}"/>
                </a:ext>
              </a:extLst>
            </p:cNvPr>
            <p:cNvSpPr/>
            <p:nvPr/>
          </p:nvSpPr>
          <p:spPr>
            <a:xfrm>
              <a:off x="2716696" y="3066417"/>
              <a:ext cx="1381369" cy="1261382"/>
            </a:xfrm>
            <a:prstGeom prst="ellipse">
              <a:avLst/>
            </a:prstGeom>
            <a:solidFill>
              <a:schemeClr val="bg2"/>
            </a:solidFill>
            <a:ln w="1270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>
                  <a:solidFill>
                    <a:schemeClr val="tx1"/>
                  </a:solidFill>
                  <a:latin typeface="Baskerville Old Face" panose="02020602080505020303" pitchFamily="18" charset="77"/>
                </a:rPr>
                <a:t>4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90D598F-8374-FB71-74D2-F0420BBDA97C}"/>
              </a:ext>
            </a:extLst>
          </p:cNvPr>
          <p:cNvSpPr txBox="1"/>
          <p:nvPr/>
        </p:nvSpPr>
        <p:spPr>
          <a:xfrm>
            <a:off x="3295650" y="1456265"/>
            <a:ext cx="4953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latin typeface="Baskerville Old Face" panose="02020602080505020303" pitchFamily="18" charset="77"/>
              </a:rPr>
              <a:t>Queue visualization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1D237E-9357-EF31-1544-1EADF83149A6}"/>
              </a:ext>
            </a:extLst>
          </p:cNvPr>
          <p:cNvSpPr txBox="1"/>
          <p:nvPr/>
        </p:nvSpPr>
        <p:spPr>
          <a:xfrm>
            <a:off x="3295650" y="2835072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Baskerville Old Face" panose="02020602080505020303" pitchFamily="18" charset="77"/>
              </a:rPr>
              <a:t>From reactive to predictive planning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F4E2F6-D8E3-608A-3C68-25574BDB43FA}"/>
              </a:ext>
            </a:extLst>
          </p:cNvPr>
          <p:cNvSpPr txBox="1"/>
          <p:nvPr/>
        </p:nvSpPr>
        <p:spPr>
          <a:xfrm>
            <a:off x="3295650" y="4249508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Baskerville Old Face" panose="02020602080505020303" pitchFamily="18" charset="77"/>
              </a:rPr>
              <a:t>Inbound pipeline for DSW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96FCEF-7431-15D7-BFD4-B17F90B5705D}"/>
              </a:ext>
            </a:extLst>
          </p:cNvPr>
          <p:cNvSpPr txBox="1"/>
          <p:nvPr/>
        </p:nvSpPr>
        <p:spPr>
          <a:xfrm>
            <a:off x="3295650" y="5663944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Baskerville Old Face" panose="02020602080505020303" pitchFamily="18" charset="77"/>
              </a:rPr>
              <a:t>Reduce quotation approval delays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1137DD-5F67-6FBE-53FE-45C95DC2490E}"/>
              </a:ext>
            </a:extLst>
          </p:cNvPr>
          <p:cNvCxnSpPr/>
          <p:nvPr/>
        </p:nvCxnSpPr>
        <p:spPr>
          <a:xfrm>
            <a:off x="8801100" y="2835072"/>
            <a:ext cx="0" cy="523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7C7DB93-5D25-8261-FE0E-D78544D602A6}"/>
              </a:ext>
            </a:extLst>
          </p:cNvPr>
          <p:cNvCxnSpPr/>
          <p:nvPr/>
        </p:nvCxnSpPr>
        <p:spPr>
          <a:xfrm>
            <a:off x="8801100" y="1456265"/>
            <a:ext cx="0" cy="523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CD6B5C0-9E52-06DA-55B6-2E4D6539EBAA}"/>
              </a:ext>
            </a:extLst>
          </p:cNvPr>
          <p:cNvCxnSpPr/>
          <p:nvPr/>
        </p:nvCxnSpPr>
        <p:spPr>
          <a:xfrm>
            <a:off x="8801100" y="4249508"/>
            <a:ext cx="0" cy="523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372B48E-DFD2-5201-AB3E-8EFA405A28CA}"/>
              </a:ext>
            </a:extLst>
          </p:cNvPr>
          <p:cNvCxnSpPr/>
          <p:nvPr/>
        </p:nvCxnSpPr>
        <p:spPr>
          <a:xfrm>
            <a:off x="8801100" y="5663944"/>
            <a:ext cx="0" cy="5232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phic 40" descr="Workflow with solid fill">
            <a:extLst>
              <a:ext uri="{FF2B5EF4-FFF2-40B4-BE49-F238E27FC236}">
                <a16:creationId xmlns:a16="http://schemas.microsoft.com/office/drawing/2014/main" id="{9D4537B6-394E-D0AB-2E7C-DA04825E6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9306" y="1260675"/>
            <a:ext cx="914400" cy="914400"/>
          </a:xfrm>
          <a:prstGeom prst="rect">
            <a:avLst/>
          </a:prstGeom>
        </p:spPr>
      </p:pic>
      <p:pic>
        <p:nvPicPr>
          <p:cNvPr id="43" name="Graphic 42" descr="Checklist with solid fill">
            <a:extLst>
              <a:ext uri="{FF2B5EF4-FFF2-40B4-BE49-F238E27FC236}">
                <a16:creationId xmlns:a16="http://schemas.microsoft.com/office/drawing/2014/main" id="{38453202-0B9B-A1D2-A57C-D584719B2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0536" y="2682672"/>
            <a:ext cx="914400" cy="914400"/>
          </a:xfrm>
          <a:prstGeom prst="rect">
            <a:avLst/>
          </a:prstGeom>
        </p:spPr>
      </p:pic>
      <p:pic>
        <p:nvPicPr>
          <p:cNvPr id="45" name="Graphic 44" descr="Stopwatch 75% with solid fill">
            <a:extLst>
              <a:ext uri="{FF2B5EF4-FFF2-40B4-BE49-F238E27FC236}">
                <a16:creationId xmlns:a16="http://schemas.microsoft.com/office/drawing/2014/main" id="{2698D8BB-2C19-A1C7-1693-94EE186A5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30536" y="5506014"/>
            <a:ext cx="914400" cy="914400"/>
          </a:xfrm>
          <a:prstGeom prst="rect">
            <a:avLst/>
          </a:prstGeom>
        </p:spPr>
      </p:pic>
      <p:pic>
        <p:nvPicPr>
          <p:cNvPr id="47" name="Graphic 46" descr="Toggle with solid fill">
            <a:extLst>
              <a:ext uri="{FF2B5EF4-FFF2-40B4-BE49-F238E27FC236}">
                <a16:creationId xmlns:a16="http://schemas.microsoft.com/office/drawing/2014/main" id="{4CEB23E5-CA1C-9084-3A63-8052866000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5098" y="41009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08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1F1E-5419-0E4A-8E9A-A5EB483C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visualization - Modernization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54217-368A-44A7-C004-E6C1DA219CD7}"/>
              </a:ext>
            </a:extLst>
          </p:cNvPr>
          <p:cNvSpPr txBox="1"/>
          <p:nvPr/>
        </p:nvSpPr>
        <p:spPr>
          <a:xfrm>
            <a:off x="838200" y="3581400"/>
            <a:ext cx="7141029" cy="2492990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Need for better tracking of parts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All recorded in a digital portfolio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Internal &amp; external parts (incoming and outgoing)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Real-time tracking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Simple and intuitive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Link queue priorities with KPIs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5E700-898E-D39E-BD66-DF3E2BCCA690}"/>
              </a:ext>
            </a:extLst>
          </p:cNvPr>
          <p:cNvGrpSpPr/>
          <p:nvPr/>
        </p:nvGrpSpPr>
        <p:grpSpPr>
          <a:xfrm>
            <a:off x="838200" y="2047438"/>
            <a:ext cx="6248400" cy="1381562"/>
            <a:chOff x="1422400" y="3873500"/>
            <a:chExt cx="6248400" cy="1381562"/>
          </a:xfrm>
        </p:grpSpPr>
        <p:pic>
          <p:nvPicPr>
            <p:cNvPr id="7" name="Graphic 6" descr="Truck with solid fill">
              <a:extLst>
                <a:ext uri="{FF2B5EF4-FFF2-40B4-BE49-F238E27FC236}">
                  <a16:creationId xmlns:a16="http://schemas.microsoft.com/office/drawing/2014/main" id="{043CD62B-2532-C381-A50E-227C170CB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2400" y="3873500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Truck with solid fill">
              <a:extLst>
                <a:ext uri="{FF2B5EF4-FFF2-40B4-BE49-F238E27FC236}">
                  <a16:creationId xmlns:a16="http://schemas.microsoft.com/office/drawing/2014/main" id="{1955D53E-E3DD-26D6-CC06-DA1F3F39C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56400" y="3873500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Factory with solid fill">
              <a:extLst>
                <a:ext uri="{FF2B5EF4-FFF2-40B4-BE49-F238E27FC236}">
                  <a16:creationId xmlns:a16="http://schemas.microsoft.com/office/drawing/2014/main" id="{F7902466-52A7-62CE-BBDD-F174F6209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55900" y="3873500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Warehouse with solid fill">
              <a:extLst>
                <a:ext uri="{FF2B5EF4-FFF2-40B4-BE49-F238E27FC236}">
                  <a16:creationId xmlns:a16="http://schemas.microsoft.com/office/drawing/2014/main" id="{05AC3FF6-3C20-6AAF-12CE-7EDCDD525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22900" y="3873500"/>
              <a:ext cx="914400" cy="914400"/>
            </a:xfrm>
            <a:prstGeom prst="rect">
              <a:avLst/>
            </a:prstGeom>
          </p:spPr>
        </p:pic>
        <p:pic>
          <p:nvPicPr>
            <p:cNvPr id="20" name="Graphic 19" descr="Tools with solid fill">
              <a:extLst>
                <a:ext uri="{FF2B5EF4-FFF2-40B4-BE49-F238E27FC236}">
                  <a16:creationId xmlns:a16="http://schemas.microsoft.com/office/drawing/2014/main" id="{6FA0D27C-384F-F255-7AED-B19166562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89400" y="3873500"/>
              <a:ext cx="914400" cy="914400"/>
            </a:xfrm>
            <a:prstGeom prst="rect">
              <a:avLst/>
            </a:prstGeom>
          </p:spPr>
        </p:pic>
        <p:sp>
          <p:nvSpPr>
            <p:cNvPr id="21" name="Notched Right Arrow 20">
              <a:extLst>
                <a:ext uri="{FF2B5EF4-FFF2-40B4-BE49-F238E27FC236}">
                  <a16:creationId xmlns:a16="http://schemas.microsoft.com/office/drawing/2014/main" id="{76762450-AE3D-6CB6-E85F-1E62E563F4DE}"/>
                </a:ext>
              </a:extLst>
            </p:cNvPr>
            <p:cNvSpPr/>
            <p:nvPr/>
          </p:nvSpPr>
          <p:spPr>
            <a:xfrm>
              <a:off x="1422400" y="4953000"/>
              <a:ext cx="914400" cy="302062"/>
            </a:xfrm>
            <a:prstGeom prst="notched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Notched Right Arrow 21">
              <a:extLst>
                <a:ext uri="{FF2B5EF4-FFF2-40B4-BE49-F238E27FC236}">
                  <a16:creationId xmlns:a16="http://schemas.microsoft.com/office/drawing/2014/main" id="{1FA33EA4-F298-79A5-526F-3CE80D2558C4}"/>
                </a:ext>
              </a:extLst>
            </p:cNvPr>
            <p:cNvSpPr/>
            <p:nvPr/>
          </p:nvSpPr>
          <p:spPr>
            <a:xfrm>
              <a:off x="2755900" y="4953000"/>
              <a:ext cx="914400" cy="302062"/>
            </a:xfrm>
            <a:prstGeom prst="notched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Notched Right Arrow 22">
              <a:extLst>
                <a:ext uri="{FF2B5EF4-FFF2-40B4-BE49-F238E27FC236}">
                  <a16:creationId xmlns:a16="http://schemas.microsoft.com/office/drawing/2014/main" id="{155DA181-8727-A210-2C26-DFAEE28777AD}"/>
                </a:ext>
              </a:extLst>
            </p:cNvPr>
            <p:cNvSpPr/>
            <p:nvPr/>
          </p:nvSpPr>
          <p:spPr>
            <a:xfrm>
              <a:off x="5422900" y="4943038"/>
              <a:ext cx="914400" cy="302062"/>
            </a:xfrm>
            <a:prstGeom prst="notched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Notched Right Arrow 23">
              <a:extLst>
                <a:ext uri="{FF2B5EF4-FFF2-40B4-BE49-F238E27FC236}">
                  <a16:creationId xmlns:a16="http://schemas.microsoft.com/office/drawing/2014/main" id="{9F535615-7D43-4DE2-19C0-418ECD055E74}"/>
                </a:ext>
              </a:extLst>
            </p:cNvPr>
            <p:cNvSpPr/>
            <p:nvPr/>
          </p:nvSpPr>
          <p:spPr>
            <a:xfrm>
              <a:off x="4089400" y="4953000"/>
              <a:ext cx="914400" cy="302062"/>
            </a:xfrm>
            <a:prstGeom prst="notched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Notched Right Arrow 24">
              <a:extLst>
                <a:ext uri="{FF2B5EF4-FFF2-40B4-BE49-F238E27FC236}">
                  <a16:creationId xmlns:a16="http://schemas.microsoft.com/office/drawing/2014/main" id="{7CEF57DF-AFF2-9A1C-7323-0AD4ADC0B24B}"/>
                </a:ext>
              </a:extLst>
            </p:cNvPr>
            <p:cNvSpPr/>
            <p:nvPr/>
          </p:nvSpPr>
          <p:spPr>
            <a:xfrm>
              <a:off x="6756400" y="4943038"/>
              <a:ext cx="914400" cy="302062"/>
            </a:xfrm>
            <a:prstGeom prst="notched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3076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BD01-5DD8-8DEA-6743-604A220F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visualization - 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BF45C-D64E-C256-FFC2-3BC0D45D618B}"/>
              </a:ext>
            </a:extLst>
          </p:cNvPr>
          <p:cNvSpPr txBox="1"/>
          <p:nvPr/>
        </p:nvSpPr>
        <p:spPr>
          <a:xfrm>
            <a:off x="838200" y="1970395"/>
            <a:ext cx="7141029" cy="2893100"/>
          </a:xfrm>
          <a:prstGeom prst="rect">
            <a:avLst/>
          </a:prstGeom>
          <a:noFill/>
          <a:ln w="8890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Every part of the process visible &amp; measurable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Easily identity bottlenecks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Tracking from intake to delivery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Better capacity utilization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Faster reaction time &amp; decision making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Foundation for predictive planning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Often found in automotive production lines</a:t>
            </a:r>
          </a:p>
        </p:txBody>
      </p:sp>
      <p:pic>
        <p:nvPicPr>
          <p:cNvPr id="3074" name="Picture 2" descr="Free Automotive assembly line Image - Automotive, Factory, Robots |  Download at StockCake">
            <a:extLst>
              <a:ext uri="{FF2B5EF4-FFF2-40B4-BE49-F238E27FC236}">
                <a16:creationId xmlns:a16="http://schemas.microsoft.com/office/drawing/2014/main" id="{1F516789-D488-9CFF-E07F-106AD300C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739" y="1970395"/>
            <a:ext cx="2291768" cy="408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755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E065-55AD-622D-01C9-3FE8F126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reactive to predictive planning - Switch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67427B-76F4-8ACC-7AE7-ED3809E1D980}"/>
              </a:ext>
            </a:extLst>
          </p:cNvPr>
          <p:cNvGrpSpPr/>
          <p:nvPr/>
        </p:nvGrpSpPr>
        <p:grpSpPr>
          <a:xfrm>
            <a:off x="885825" y="1993900"/>
            <a:ext cx="10420350" cy="4114800"/>
            <a:chOff x="615950" y="1981200"/>
            <a:chExt cx="10420350" cy="41148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2D92512-E94D-F6D6-1064-151C3A475F74}"/>
                </a:ext>
              </a:extLst>
            </p:cNvPr>
            <p:cNvSpPr txBox="1"/>
            <p:nvPr/>
          </p:nvSpPr>
          <p:spPr>
            <a:xfrm>
              <a:off x="838200" y="2108199"/>
              <a:ext cx="388620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>
                  <a:latin typeface="Baskerville Old Face" panose="02020602080505020303" pitchFamily="18" charset="77"/>
                </a:rPr>
                <a:t>Reactive panning waits for: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EBA262-9A91-0FFF-6326-34E649ED6CF2}"/>
                </a:ext>
              </a:extLst>
            </p:cNvPr>
            <p:cNvSpPr txBox="1"/>
            <p:nvPr/>
          </p:nvSpPr>
          <p:spPr>
            <a:xfrm>
              <a:off x="6096000" y="2108200"/>
              <a:ext cx="388620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>
                  <a:latin typeface="Baskerville Old Face" panose="02020602080505020303" pitchFamily="18" charset="77"/>
                </a:rPr>
                <a:t>Predictive panning will: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4AFB5B-BFC4-944A-5D30-C331ED9AC44B}"/>
                </a:ext>
              </a:extLst>
            </p:cNvPr>
            <p:cNvSpPr txBox="1"/>
            <p:nvPr/>
          </p:nvSpPr>
          <p:spPr>
            <a:xfrm>
              <a:off x="838200" y="2771931"/>
              <a:ext cx="3886200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Backlog to build up</a:t>
              </a:r>
            </a:p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Delay to be reported</a:t>
              </a:r>
            </a:p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Customer complaint</a:t>
              </a:r>
            </a:p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Bottlenecks</a:t>
              </a:r>
            </a:p>
            <a:p>
              <a:pPr marL="342900" indent="-342900">
                <a:buFont typeface="Wingdings" pitchFamily="2" charset="2"/>
                <a:buChar char="§"/>
              </a:pPr>
              <a:endParaRPr lang="en-US" sz="2400">
                <a:latin typeface="Baskerville Old Face" panose="02020602080505020303" pitchFamily="18" charset="77"/>
              </a:endParaRPr>
            </a:p>
            <a:p>
              <a:r>
                <a:rPr lang="en-US" sz="2400">
                  <a:latin typeface="Baskerville Old Face" panose="02020602080505020303" pitchFamily="18" charset="77"/>
                </a:rPr>
                <a:t>Problems are known but not planned for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D9DC55-B967-E645-5ACD-097D871F4255}"/>
                </a:ext>
              </a:extLst>
            </p:cNvPr>
            <p:cNvSpPr txBox="1"/>
            <p:nvPr/>
          </p:nvSpPr>
          <p:spPr>
            <a:xfrm>
              <a:off x="6096000" y="2771933"/>
              <a:ext cx="4406900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Anticipates capacity constraints</a:t>
              </a:r>
            </a:p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Simulates future workload</a:t>
              </a:r>
            </a:p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Allocates labor in advance</a:t>
              </a:r>
            </a:p>
            <a:p>
              <a:pPr marL="342900" indent="-342900">
                <a:buFont typeface="Wingdings" pitchFamily="2" charset="2"/>
                <a:buChar char="§"/>
              </a:pPr>
              <a:r>
                <a:rPr lang="en-US" sz="2400">
                  <a:latin typeface="Baskerville Old Face" panose="02020602080505020303" pitchFamily="18" charset="77"/>
                </a:rPr>
                <a:t>Use historical data</a:t>
              </a:r>
            </a:p>
            <a:p>
              <a:pPr marL="342900" indent="-342900">
                <a:buFont typeface="Wingdings" pitchFamily="2" charset="2"/>
                <a:buChar char="§"/>
              </a:pPr>
              <a:endParaRPr lang="en-US" sz="2400">
                <a:latin typeface="Baskerville Old Face" panose="02020602080505020303" pitchFamily="18" charset="77"/>
              </a:endParaRPr>
            </a:p>
            <a:p>
              <a:r>
                <a:rPr lang="en-US" sz="2400">
                  <a:latin typeface="Baskerville Old Face" panose="02020602080505020303" pitchFamily="18" charset="77"/>
                </a:rPr>
                <a:t>Problems are known but planned for</a:t>
              </a: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5267BF20-0373-A2B4-8769-6A47BECFFF97}"/>
                </a:ext>
              </a:extLst>
            </p:cNvPr>
            <p:cNvSpPr/>
            <p:nvPr/>
          </p:nvSpPr>
          <p:spPr>
            <a:xfrm>
              <a:off x="5880100" y="1981200"/>
              <a:ext cx="5156200" cy="4114800"/>
            </a:xfrm>
            <a:prstGeom prst="frame">
              <a:avLst>
                <a:gd name="adj1" fmla="val 1698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277098ED-695A-6E7D-7BF4-4CBFE5895DFD}"/>
                </a:ext>
              </a:extLst>
            </p:cNvPr>
            <p:cNvSpPr/>
            <p:nvPr/>
          </p:nvSpPr>
          <p:spPr>
            <a:xfrm>
              <a:off x="615950" y="1981200"/>
              <a:ext cx="5156200" cy="4114800"/>
            </a:xfrm>
            <a:prstGeom prst="frame">
              <a:avLst>
                <a:gd name="adj1" fmla="val 1698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1080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6493E-B8E0-149D-1F71-1BEFAEE5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reactive to predictive planning -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EA4C1-3C02-5F96-EA37-1B00FAB363D5}"/>
              </a:ext>
            </a:extLst>
          </p:cNvPr>
          <p:cNvSpPr txBox="1"/>
          <p:nvPr/>
        </p:nvSpPr>
        <p:spPr>
          <a:xfrm>
            <a:off x="838200" y="1835943"/>
            <a:ext cx="102235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>
                <a:latin typeface="Baskerville Old Face" panose="02020602080505020303" pitchFamily="18" charset="77"/>
              </a:rPr>
              <a:t>Predictive planning is based 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AF19D8C-AA13-257A-2DDC-0DA0FF3DF9F9}"/>
              </a:ext>
            </a:extLst>
          </p:cNvPr>
          <p:cNvGrpSpPr/>
          <p:nvPr/>
        </p:nvGrpSpPr>
        <p:grpSpPr>
          <a:xfrm>
            <a:off x="419100" y="2328386"/>
            <a:ext cx="11353800" cy="3805714"/>
            <a:chOff x="469900" y="2328386"/>
            <a:chExt cx="11353800" cy="38057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0B3A78B-FA03-C618-7160-A9503CAF2DBD}"/>
                </a:ext>
              </a:extLst>
            </p:cNvPr>
            <p:cNvGrpSpPr/>
            <p:nvPr/>
          </p:nvGrpSpPr>
          <p:grpSpPr>
            <a:xfrm>
              <a:off x="469900" y="2353786"/>
              <a:ext cx="3632200" cy="3780314"/>
              <a:chOff x="1282700" y="2600642"/>
              <a:chExt cx="3632200" cy="357155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8E86A4-EEB3-17CC-5AA3-7381E68F84BD}"/>
                  </a:ext>
                </a:extLst>
              </p:cNvPr>
              <p:cNvSpPr txBox="1"/>
              <p:nvPr/>
            </p:nvSpPr>
            <p:spPr>
              <a:xfrm>
                <a:off x="1409700" y="2600642"/>
                <a:ext cx="3378200" cy="3477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>
                    <a:latin typeface="Baskerville Old Face" panose="02020602080505020303" pitchFamily="18" charset="77"/>
                  </a:rPr>
                  <a:t>Historical data</a:t>
                </a:r>
              </a:p>
              <a:p>
                <a:pPr algn="ctr"/>
                <a:endParaRPr lang="en-US" sz="2600" b="1">
                  <a:latin typeface="Baskerville Old Face" panose="02020602080505020303" pitchFamily="18" charset="77"/>
                </a:endParaRP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Demand order &amp; volumes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Lead time &amp; cycle time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Queue length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Capacity usage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Approval delays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Client response patterns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Known bottlenecks</a:t>
                </a: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3602297-D4E2-8A02-1ACF-DA562ABE01E5}"/>
                  </a:ext>
                </a:extLst>
              </p:cNvPr>
              <p:cNvSpPr/>
              <p:nvPr/>
            </p:nvSpPr>
            <p:spPr>
              <a:xfrm>
                <a:off x="1282700" y="2600642"/>
                <a:ext cx="3632200" cy="3571558"/>
              </a:xfrm>
              <a:prstGeom prst="roundRect">
                <a:avLst/>
              </a:prstGeom>
              <a:noFill/>
              <a:ln w="889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FA94C0C-F4D6-FB36-7D3D-72E3F4575276}"/>
                </a:ext>
              </a:extLst>
            </p:cNvPr>
            <p:cNvGrpSpPr/>
            <p:nvPr/>
          </p:nvGrpSpPr>
          <p:grpSpPr>
            <a:xfrm>
              <a:off x="4330700" y="2353786"/>
              <a:ext cx="3632200" cy="1748314"/>
              <a:chOff x="1282700" y="2600642"/>
              <a:chExt cx="3632200" cy="357155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5178A6-8731-B6B4-0725-BBDFAFCE3863}"/>
                  </a:ext>
                </a:extLst>
              </p:cNvPr>
              <p:cNvSpPr txBox="1"/>
              <p:nvPr/>
            </p:nvSpPr>
            <p:spPr>
              <a:xfrm>
                <a:off x="1409700" y="2600642"/>
                <a:ext cx="3378200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>
                    <a:latin typeface="Baskerville Old Face" panose="02020602080505020303" pitchFamily="18" charset="77"/>
                  </a:rPr>
                  <a:t>Real-time data</a:t>
                </a:r>
              </a:p>
              <a:p>
                <a:pPr algn="ctr"/>
                <a:endParaRPr lang="en-US" sz="2600">
                  <a:latin typeface="Baskerville Old Face" panose="02020602080505020303" pitchFamily="18" charset="77"/>
                </a:endParaRP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Current workload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Current capacity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286CFE4-050C-879C-1953-1FFFCEDD89A7}"/>
                  </a:ext>
                </a:extLst>
              </p:cNvPr>
              <p:cNvSpPr/>
              <p:nvPr/>
            </p:nvSpPr>
            <p:spPr>
              <a:xfrm>
                <a:off x="1282700" y="2600642"/>
                <a:ext cx="3632200" cy="3571558"/>
              </a:xfrm>
              <a:prstGeom prst="roundRect">
                <a:avLst/>
              </a:prstGeom>
              <a:noFill/>
              <a:ln w="889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017E5C6-AC8A-D664-4D1E-F396C8B38510}"/>
                </a:ext>
              </a:extLst>
            </p:cNvPr>
            <p:cNvGrpSpPr/>
            <p:nvPr/>
          </p:nvGrpSpPr>
          <p:grpSpPr>
            <a:xfrm>
              <a:off x="4330700" y="4292103"/>
              <a:ext cx="3632200" cy="1748314"/>
              <a:chOff x="1282700" y="2600642"/>
              <a:chExt cx="3632200" cy="357155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621BD0-2967-4591-6A3B-8EFC292C9D94}"/>
                  </a:ext>
                </a:extLst>
              </p:cNvPr>
              <p:cNvSpPr txBox="1"/>
              <p:nvPr/>
            </p:nvSpPr>
            <p:spPr>
              <a:xfrm>
                <a:off x="1409700" y="2600642"/>
                <a:ext cx="3378200" cy="352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>
                    <a:latin typeface="Baskerville Old Face" panose="02020602080505020303" pitchFamily="18" charset="77"/>
                  </a:rPr>
                  <a:t>Forecast &amp; models</a:t>
                </a:r>
              </a:p>
              <a:p>
                <a:pPr algn="ctr"/>
                <a:endParaRPr lang="en-US" sz="2600">
                  <a:latin typeface="Baskerville Old Face" panose="02020602080505020303" pitchFamily="18" charset="77"/>
                </a:endParaRP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Demande forecast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Seasonality analysis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A5ADBAA0-4F16-DF4B-8669-9EBACBF0C932}"/>
                  </a:ext>
                </a:extLst>
              </p:cNvPr>
              <p:cNvSpPr/>
              <p:nvPr/>
            </p:nvSpPr>
            <p:spPr>
              <a:xfrm>
                <a:off x="1282700" y="2600642"/>
                <a:ext cx="3632200" cy="3571558"/>
              </a:xfrm>
              <a:prstGeom prst="roundRect">
                <a:avLst/>
              </a:prstGeom>
              <a:noFill/>
              <a:ln w="889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ED2C51E-C382-E521-1313-3150A2F86ECC}"/>
                </a:ext>
              </a:extLst>
            </p:cNvPr>
            <p:cNvGrpSpPr/>
            <p:nvPr/>
          </p:nvGrpSpPr>
          <p:grpSpPr>
            <a:xfrm>
              <a:off x="8191500" y="2328386"/>
              <a:ext cx="3632200" cy="3780314"/>
              <a:chOff x="1282700" y="2600642"/>
              <a:chExt cx="3632200" cy="357155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2412E9-55AC-DB4B-AC61-56B897F833FA}"/>
                  </a:ext>
                </a:extLst>
              </p:cNvPr>
              <p:cNvSpPr txBox="1"/>
              <p:nvPr/>
            </p:nvSpPr>
            <p:spPr>
              <a:xfrm>
                <a:off x="1409700" y="2600642"/>
                <a:ext cx="3378200" cy="25879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600" b="1">
                    <a:latin typeface="Baskerville Old Face" panose="02020602080505020303" pitchFamily="18" charset="77"/>
                  </a:rPr>
                  <a:t>Others</a:t>
                </a:r>
              </a:p>
              <a:p>
                <a:pPr algn="ctr"/>
                <a:endParaRPr lang="en-US" sz="2600" b="1">
                  <a:latin typeface="Baskerville Old Face" panose="02020602080505020303" pitchFamily="18" charset="77"/>
                </a:endParaRP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What-if analysis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Supplier delivery status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Patterns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Business constraints</a:t>
                </a:r>
              </a:p>
              <a:p>
                <a:pPr algn="ctr"/>
                <a:r>
                  <a:rPr lang="en-US" sz="2400">
                    <a:latin typeface="Baskerville Old Face" panose="02020602080505020303" pitchFamily="18" charset="77"/>
                  </a:rPr>
                  <a:t>AI models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600DCFEF-A851-5C7E-F03F-1EFC4779C135}"/>
                  </a:ext>
                </a:extLst>
              </p:cNvPr>
              <p:cNvSpPr/>
              <p:nvPr/>
            </p:nvSpPr>
            <p:spPr>
              <a:xfrm>
                <a:off x="1282700" y="2600642"/>
                <a:ext cx="3632200" cy="3571558"/>
              </a:xfrm>
              <a:prstGeom prst="roundRect">
                <a:avLst/>
              </a:prstGeom>
              <a:noFill/>
              <a:ln w="889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4354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EF0-96A1-2C6E-1E6A-563A3500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reactive to predictive planning - Benefits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B8F8A-DC32-140C-5A06-6F1CD8537EC7}"/>
              </a:ext>
            </a:extLst>
          </p:cNvPr>
          <p:cNvSpPr txBox="1"/>
          <p:nvPr/>
        </p:nvSpPr>
        <p:spPr>
          <a:xfrm>
            <a:off x="838200" y="2108199"/>
            <a:ext cx="98552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</a:rPr>
              <a:t>Reducing operational disruptions </a:t>
            </a:r>
            <a:r>
              <a:rPr lang="en-US" sz="2600">
                <a:latin typeface="Baskerville Old Face" panose="02020602080505020303" pitchFamily="18" charset="77"/>
                <a:sym typeface="Wingdings" pitchFamily="2" charset="2"/>
              </a:rPr>
              <a:t>– the uncertainty is “priced in”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  <a:sym typeface="Wingdings" pitchFamily="2" charset="2"/>
              </a:rPr>
              <a:t>More stable lead times (usually shorter)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  <a:sym typeface="Wingdings" pitchFamily="2" charset="2"/>
              </a:rPr>
              <a:t>Better resources utilization – better use of the capacity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  <a:sym typeface="Wingdings" pitchFamily="2" charset="2"/>
              </a:rPr>
              <a:t>Better decision-making &amp; long-term planning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>
                <a:latin typeface="Baskerville Old Face" panose="02020602080505020303" pitchFamily="18" charset="77"/>
                <a:sym typeface="Wingdings" pitchFamily="2" charset="2"/>
              </a:rPr>
              <a:t>More efficient &amp; stable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A03FB5D6-DE24-A31F-204F-F52863A89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429000"/>
            <a:ext cx="5702300" cy="275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481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94B0-2514-9E93-5B3C-5870D340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Inbound pipeline for DSW -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AC80F-DDB6-D53B-0D40-666E2A856E25}"/>
              </a:ext>
            </a:extLst>
          </p:cNvPr>
          <p:cNvSpPr txBox="1"/>
          <p:nvPr/>
        </p:nvSpPr>
        <p:spPr>
          <a:xfrm>
            <a:off x="838200" y="2057400"/>
            <a:ext cx="8270213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>
                <a:latin typeface="Baskerville Old Face" panose="02020602080505020303" pitchFamily="18" charset="77"/>
              </a:rPr>
              <a:t>One of the biggest challenges for DSW: workflow uncertainty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latin typeface="Baskerville Old Face" panose="02020602080505020303" pitchFamily="18" charset="77"/>
              </a:rPr>
              <a:t>Missing information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latin typeface="Baskerville Old Face" panose="02020602080505020303" pitchFamily="18" charset="77"/>
              </a:rPr>
              <a:t>Customer coordination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600">
                <a:latin typeface="Baskerville Old Face" panose="02020602080505020303" pitchFamily="18" charset="77"/>
              </a:rPr>
              <a:t>Transiting of units &amp; parts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5D7B9F9-D462-0582-BD2E-38218E18BF80}"/>
              </a:ext>
            </a:extLst>
          </p:cNvPr>
          <p:cNvSpPr/>
          <p:nvPr/>
        </p:nvSpPr>
        <p:spPr>
          <a:xfrm>
            <a:off x="838200" y="4008437"/>
            <a:ext cx="5130000" cy="18034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9227ED-0484-0C57-9AFF-425BBAA8248A}"/>
              </a:ext>
            </a:extLst>
          </p:cNvPr>
          <p:cNvSpPr/>
          <p:nvPr/>
        </p:nvSpPr>
        <p:spPr>
          <a:xfrm>
            <a:off x="6223800" y="4008437"/>
            <a:ext cx="5130000" cy="18034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E10EB-0E31-EED2-5A0B-9E86ABBFED64}"/>
              </a:ext>
            </a:extLst>
          </p:cNvPr>
          <p:cNvSpPr txBox="1"/>
          <p:nvPr/>
        </p:nvSpPr>
        <p:spPr>
          <a:xfrm>
            <a:off x="990200" y="4094529"/>
            <a:ext cx="4826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2"/>
                </a:solidFill>
                <a:latin typeface="Baskerville Old Face" panose="02020602080505020303" pitchFamily="18" charset="77"/>
              </a:rPr>
              <a:t>Internal</a:t>
            </a:r>
          </a:p>
          <a:p>
            <a:pPr algn="ctr"/>
            <a:endParaRPr lang="en-US" sz="2000">
              <a:solidFill>
                <a:schemeClr val="bg2"/>
              </a:solidFill>
              <a:latin typeface="Baskerville Old Face" panose="02020602080505020303" pitchFamily="18" charset="77"/>
            </a:endParaRPr>
          </a:p>
          <a:p>
            <a:pPr algn="ctr"/>
            <a:r>
              <a:rPr lang="en-US" sz="2000">
                <a:solidFill>
                  <a:schemeClr val="bg2"/>
                </a:solidFill>
                <a:latin typeface="Baskerville Old Face" panose="02020602080505020303" pitchFamily="18" charset="77"/>
              </a:rPr>
              <a:t>Standard &amp; recurring repair time, consistency, faster turnaround, better access, faster turnaround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5952F-4A5F-2005-F343-9A3AB07120C6}"/>
              </a:ext>
            </a:extLst>
          </p:cNvPr>
          <p:cNvSpPr txBox="1"/>
          <p:nvPr/>
        </p:nvSpPr>
        <p:spPr>
          <a:xfrm>
            <a:off x="6375800" y="4094529"/>
            <a:ext cx="4826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bg2"/>
                </a:solidFill>
                <a:latin typeface="Baskerville Old Face" panose="02020602080505020303" pitchFamily="18" charset="77"/>
              </a:rPr>
              <a:t>External</a:t>
            </a:r>
          </a:p>
          <a:p>
            <a:pPr algn="ctr"/>
            <a:endParaRPr lang="en-US" sz="2000">
              <a:solidFill>
                <a:schemeClr val="bg2"/>
              </a:solidFill>
              <a:latin typeface="Baskerville Old Face" panose="02020602080505020303" pitchFamily="18" charset="77"/>
            </a:endParaRPr>
          </a:p>
          <a:p>
            <a:pPr algn="ctr"/>
            <a:r>
              <a:rPr lang="en-US" sz="2000">
                <a:solidFill>
                  <a:schemeClr val="bg2"/>
                </a:solidFill>
                <a:latin typeface="Baskerville Old Face" panose="02020602080505020303" pitchFamily="18" charset="77"/>
              </a:rPr>
              <a:t>Lower volume, longer, niche expertise, variable capacity</a:t>
            </a:r>
          </a:p>
        </p:txBody>
      </p:sp>
    </p:spTree>
    <p:extLst>
      <p:ext uri="{BB962C8B-B14F-4D97-AF65-F5344CB8AC3E}">
        <p14:creationId xmlns:p14="http://schemas.microsoft.com/office/powerpoint/2010/main" val="3933041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858E-EDE4-E112-9805-CD3C9AC5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Inbound pipeline for DSW - Segmentation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57E513-A826-66FA-8C70-12C83A096A4E}"/>
              </a:ext>
            </a:extLst>
          </p:cNvPr>
          <p:cNvSpPr txBox="1"/>
          <p:nvPr/>
        </p:nvSpPr>
        <p:spPr>
          <a:xfrm>
            <a:off x="6096000" y="2238276"/>
            <a:ext cx="5803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Better performance tracking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Accountability for each structure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Better cost control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Clearer cost structure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Better capacity planning - fewer bottlenecks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Better supplier management</a:t>
            </a:r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B4A8EAAC-E16F-70FD-F3A3-3D9BD1350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3" b="34445"/>
          <a:stretch/>
        </p:blipFill>
        <p:spPr bwMode="auto">
          <a:xfrm>
            <a:off x="838200" y="2311400"/>
            <a:ext cx="4568825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ound Diagonal Corner Rectangle 29">
            <a:extLst>
              <a:ext uri="{FF2B5EF4-FFF2-40B4-BE49-F238E27FC236}">
                <a16:creationId xmlns:a16="http://schemas.microsoft.com/office/drawing/2014/main" id="{A124F99A-02CC-DCF3-F162-1A8C3DE6B9B3}"/>
              </a:ext>
            </a:extLst>
          </p:cNvPr>
          <p:cNvSpPr/>
          <p:nvPr/>
        </p:nvSpPr>
        <p:spPr>
          <a:xfrm>
            <a:off x="660400" y="4663837"/>
            <a:ext cx="10871200" cy="1025624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EE2AC9-4954-5BF1-13EE-B4748B24C822}"/>
              </a:ext>
            </a:extLst>
          </p:cNvPr>
          <p:cNvSpPr txBox="1"/>
          <p:nvPr/>
        </p:nvSpPr>
        <p:spPr>
          <a:xfrm>
            <a:off x="565150" y="4745762"/>
            <a:ext cx="110617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>
                <a:latin typeface="Baskerville Old Face" panose="02020602080505020303" pitchFamily="18" charset="77"/>
              </a:rPr>
              <a:t>Benefits</a:t>
            </a:r>
            <a:r>
              <a:rPr lang="en-US" sz="2400" b="1">
                <a:latin typeface="Baskerville Old Face" panose="02020602080505020303" pitchFamily="18" charset="77"/>
              </a:rPr>
              <a:t>: </a:t>
            </a:r>
            <a:r>
              <a:rPr lang="en-US" sz="2400">
                <a:latin typeface="Baskerville Old Face" panose="02020602080505020303" pitchFamily="18" charset="77"/>
              </a:rPr>
              <a:t>Increase transparency regarding lead-time, more efficient, better strategic control, cost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03410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B6A0-F96D-8A16-2107-F65AE5AD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971D-B092-FF09-BDCC-156559E8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Reducing quotation approval delays -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E7301-D568-4175-31C6-E07BF350DC47}"/>
              </a:ext>
            </a:extLst>
          </p:cNvPr>
          <p:cNvSpPr txBox="1"/>
          <p:nvPr/>
        </p:nvSpPr>
        <p:spPr>
          <a:xfrm>
            <a:off x="838200" y="1976904"/>
            <a:ext cx="7728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Faster revenue recognition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Improved customer experience – fast response, less waiting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Predictable turnaround – better long-term planning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Operational efficiency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Better resource allocation &amp; re-allocation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D4159-0F8B-2A74-67BA-4CAF27327B26}"/>
              </a:ext>
            </a:extLst>
          </p:cNvPr>
          <p:cNvSpPr txBox="1"/>
          <p:nvPr/>
        </p:nvSpPr>
        <p:spPr>
          <a:xfrm>
            <a:off x="4864100" y="4432300"/>
            <a:ext cx="65854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Company seems organized &amp; prioritizes customer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Responsive and client-focused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Long-term customer loyalty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Competitive advantage</a:t>
            </a:r>
          </a:p>
        </p:txBody>
      </p:sp>
      <p:pic>
        <p:nvPicPr>
          <p:cNvPr id="6" name="Graphic 5" descr="Handshake with solid fill">
            <a:extLst>
              <a:ext uri="{FF2B5EF4-FFF2-40B4-BE49-F238E27FC236}">
                <a16:creationId xmlns:a16="http://schemas.microsoft.com/office/drawing/2014/main" id="{3E765AA1-39BE-D984-4942-C32917C2B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499" y="4474180"/>
            <a:ext cx="1485900" cy="1485900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8F5F36BF-0CF7-CA29-6129-36EBED792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6598" y="2207092"/>
            <a:ext cx="14859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18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8929-A576-316D-E6EE-FF05A521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Reducing quotation approval delays - Specifics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E0D8E-FE36-7BDF-545C-BFD55A703BA1}"/>
              </a:ext>
            </a:extLst>
          </p:cNvPr>
          <p:cNvSpPr txBox="1"/>
          <p:nvPr/>
        </p:nvSpPr>
        <p:spPr>
          <a:xfrm>
            <a:off x="838200" y="1981200"/>
            <a:ext cx="76113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Introduce a very standardized with clear and defined KPIs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Implicate the customer as much as needed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Separate the different delays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Strengthen collaboration and relationship with customer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Clear and consistent quotation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EC801-B6DD-94DD-E4F0-3D4A1D65FF7A}"/>
              </a:ext>
            </a:extLst>
          </p:cNvPr>
          <p:cNvSpPr txBox="1"/>
          <p:nvPr/>
        </p:nvSpPr>
        <p:spPr>
          <a:xfrm>
            <a:off x="838200" y="4864100"/>
            <a:ext cx="88969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Understand what the customer wants right away – less back-and-forth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Make the customer understand their role in the timeline</a:t>
            </a:r>
          </a:p>
        </p:txBody>
      </p:sp>
      <p:pic>
        <p:nvPicPr>
          <p:cNvPr id="9" name="Graphic 8" descr="Caret Left with solid fill">
            <a:extLst>
              <a:ext uri="{FF2B5EF4-FFF2-40B4-BE49-F238E27FC236}">
                <a16:creationId xmlns:a16="http://schemas.microsoft.com/office/drawing/2014/main" id="{8F6C83FC-B608-C57B-4C23-926202024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51813" y="3429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42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90F62-70D4-E901-D60C-E81F701A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Reducing quotation approval delays -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48434-DBB6-7345-57F4-04E78061512F}"/>
              </a:ext>
            </a:extLst>
          </p:cNvPr>
          <p:cNvSpPr txBox="1"/>
          <p:nvPr/>
        </p:nvSpPr>
        <p:spPr>
          <a:xfrm>
            <a:off x="838200" y="1981200"/>
            <a:ext cx="85667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Baskerville Old Face" panose="02020602080505020303" pitchFamily="18" charset="77"/>
              </a:rPr>
              <a:t>AI Implementation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AI Software can approve routine quotes from repeating customers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It can send it to a human if needed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Reduce human workload – better use of capital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Faster response rate for routine quotes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F6C1CB-49A6-3D24-7803-6336E9918E8E}"/>
              </a:ext>
            </a:extLst>
          </p:cNvPr>
          <p:cNvGrpSpPr/>
          <p:nvPr/>
        </p:nvGrpSpPr>
        <p:grpSpPr>
          <a:xfrm>
            <a:off x="926007" y="4332694"/>
            <a:ext cx="10339986" cy="1542659"/>
            <a:chOff x="838200" y="4600323"/>
            <a:chExt cx="10339986" cy="1542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12B48B-8401-F4AD-8EE5-1191D3985A6B}"/>
                </a:ext>
              </a:extLst>
            </p:cNvPr>
            <p:cNvSpPr/>
            <p:nvPr/>
          </p:nvSpPr>
          <p:spPr>
            <a:xfrm>
              <a:off x="838200" y="4669972"/>
              <a:ext cx="2013858" cy="64225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AI receives quote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CB83A8-885F-DA73-DF15-87CC0F50245E}"/>
                </a:ext>
              </a:extLst>
            </p:cNvPr>
            <p:cNvSpPr/>
            <p:nvPr/>
          </p:nvSpPr>
          <p:spPr>
            <a:xfrm>
              <a:off x="6388952" y="4669971"/>
              <a:ext cx="2013858" cy="64225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AI can respond?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8790E1-8FC3-1D09-350B-5E48FF215766}"/>
                </a:ext>
              </a:extLst>
            </p:cNvPr>
            <p:cNvSpPr/>
            <p:nvPr/>
          </p:nvSpPr>
          <p:spPr>
            <a:xfrm>
              <a:off x="9164328" y="4669971"/>
              <a:ext cx="2013858" cy="64225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Work done by AI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9715AA-FA4B-A0A1-50A1-2E93DC171E58}"/>
                </a:ext>
              </a:extLst>
            </p:cNvPr>
            <p:cNvSpPr/>
            <p:nvPr/>
          </p:nvSpPr>
          <p:spPr>
            <a:xfrm>
              <a:off x="9164328" y="5500725"/>
              <a:ext cx="2013858" cy="64225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Work done by human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ACBD83-96FD-06FE-F6B7-925379409EC1}"/>
                </a:ext>
              </a:extLst>
            </p:cNvPr>
            <p:cNvSpPr/>
            <p:nvPr/>
          </p:nvSpPr>
          <p:spPr>
            <a:xfrm>
              <a:off x="3613576" y="4669971"/>
              <a:ext cx="2013858" cy="64225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Routine task?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B9DD27E-DCB3-E612-AA7D-A922E8969C33}"/>
                </a:ext>
              </a:extLst>
            </p:cNvPr>
            <p:cNvCxnSpPr>
              <a:stCxn id="7" idx="3"/>
              <a:endCxn id="11" idx="1"/>
            </p:cNvCxnSpPr>
            <p:nvPr/>
          </p:nvCxnSpPr>
          <p:spPr>
            <a:xfrm flipV="1">
              <a:off x="2852058" y="4991100"/>
              <a:ext cx="761518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B091FD2-9E7A-3A56-51BC-55B55E1E274B}"/>
                </a:ext>
              </a:extLst>
            </p:cNvPr>
            <p:cNvCxnSpPr>
              <a:stCxn id="11" idx="3"/>
              <a:endCxn id="8" idx="1"/>
            </p:cNvCxnSpPr>
            <p:nvPr/>
          </p:nvCxnSpPr>
          <p:spPr>
            <a:xfrm>
              <a:off x="5627434" y="4991100"/>
              <a:ext cx="7615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5EDACDD-23B0-04EF-09F8-CEB76B5E345B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8402810" y="4991100"/>
              <a:ext cx="7615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9D35B9-0DC6-5AD5-33BC-50085BCF588D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4620505" y="5821854"/>
              <a:ext cx="454382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82DC463-8D49-C803-B768-6B2C0D17FB5F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7391400" y="5312228"/>
              <a:ext cx="4481" cy="5096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9BC7B9C-FB33-40AF-E9FF-DDBEE28E9F2E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4620505" y="5312228"/>
              <a:ext cx="0" cy="5096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C3BAAD-78F1-601C-19EA-149709E3AB3D}"/>
                </a:ext>
              </a:extLst>
            </p:cNvPr>
            <p:cNvSpPr txBox="1"/>
            <p:nvPr/>
          </p:nvSpPr>
          <p:spPr>
            <a:xfrm>
              <a:off x="5744370" y="4600323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1528D0-8E5A-A44B-E099-ADFBA812FC92}"/>
                </a:ext>
              </a:extLst>
            </p:cNvPr>
            <p:cNvSpPr txBox="1"/>
            <p:nvPr/>
          </p:nvSpPr>
          <p:spPr>
            <a:xfrm>
              <a:off x="8519746" y="4600323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706A3B-2A1A-F3EF-54C0-7655B0A3AE1D}"/>
                </a:ext>
              </a:extLst>
            </p:cNvPr>
            <p:cNvSpPr txBox="1"/>
            <p:nvPr/>
          </p:nvSpPr>
          <p:spPr>
            <a:xfrm>
              <a:off x="4145695" y="538237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65315F-5F57-EF6C-9F84-900653A0194B}"/>
                </a:ext>
              </a:extLst>
            </p:cNvPr>
            <p:cNvSpPr txBox="1"/>
            <p:nvPr/>
          </p:nvSpPr>
          <p:spPr>
            <a:xfrm>
              <a:off x="6892416" y="538237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754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D318-DD28-5BFF-15F3-052DF3DA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challenges</a:t>
            </a:r>
          </a:p>
        </p:txBody>
      </p:sp>
    </p:spTree>
    <p:extLst>
      <p:ext uri="{BB962C8B-B14F-4D97-AF65-F5344CB8AC3E}">
        <p14:creationId xmlns:p14="http://schemas.microsoft.com/office/powerpoint/2010/main" val="1768701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7A19-41CA-50E8-CF38-764AFED7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D3BB1-5BAB-6FD6-9842-7AB647FB71A9}"/>
              </a:ext>
            </a:extLst>
          </p:cNvPr>
          <p:cNvSpPr txBox="1"/>
          <p:nvPr/>
        </p:nvSpPr>
        <p:spPr>
          <a:xfrm>
            <a:off x="838200" y="1981200"/>
            <a:ext cx="103380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Baskerville Old Face" panose="02020602080505020303" pitchFamily="18" charset="77"/>
              </a:rPr>
              <a:t>Outline potential </a:t>
            </a:r>
            <a:r>
              <a:rPr lang="en-US" sz="2400" u="sng">
                <a:latin typeface="Baskerville Old Face" panose="02020602080505020303" pitchFamily="18" charset="77"/>
              </a:rPr>
              <a:t>implementation issues</a:t>
            </a:r>
            <a:r>
              <a:rPr lang="en-US" sz="2400">
                <a:latin typeface="Baskerville Old Face" panose="02020602080505020303" pitchFamily="18" charset="77"/>
              </a:rPr>
              <a:t> for </a:t>
            </a:r>
            <a:r>
              <a:rPr lang="en-US" sz="2400" err="1">
                <a:latin typeface="Baskerville Old Face" panose="02020602080505020303" pitchFamily="18" charset="77"/>
              </a:rPr>
              <a:t>eachrecommendations</a:t>
            </a:r>
            <a:endParaRPr lang="en-US" sz="2400">
              <a:latin typeface="Baskerville Old Face" panose="02020602080505020303" pitchFamily="18" charset="77"/>
            </a:endParaRPr>
          </a:p>
          <a:p>
            <a:endParaRPr lang="en-US" sz="2400">
              <a:latin typeface="Baskerville Old Face" panose="02020602080505020303" pitchFamily="18" charset="77"/>
            </a:endParaRPr>
          </a:p>
          <a:p>
            <a:endParaRPr lang="en-US" sz="2400">
              <a:latin typeface="Baskerville Old Face" panose="02020602080505020303" pitchFamily="18" charset="77"/>
            </a:endParaRPr>
          </a:p>
          <a:p>
            <a:r>
              <a:rPr lang="en-US" sz="2400">
                <a:latin typeface="Baskerville Old Face" panose="02020602080505020303" pitchFamily="18" charset="77"/>
              </a:rPr>
              <a:t>Tailored to ABB’s motion division.</a:t>
            </a:r>
          </a:p>
          <a:p>
            <a:endParaRPr lang="en-US" sz="2400">
              <a:latin typeface="Baskerville Old Face" panose="02020602080505020303" pitchFamily="18" charset="77"/>
            </a:endParaRPr>
          </a:p>
          <a:p>
            <a:endParaRPr lang="en-US" sz="2400">
              <a:latin typeface="Baskerville Old Face" panose="02020602080505020303" pitchFamily="18" charset="77"/>
            </a:endParaRPr>
          </a:p>
          <a:p>
            <a:r>
              <a:rPr lang="en-US" sz="2400">
                <a:latin typeface="Baskerville Old Face" panose="02020602080505020303" pitchFamily="18" charset="77"/>
              </a:rPr>
              <a:t>Focus on operational, technological,</a:t>
            </a:r>
          </a:p>
          <a:p>
            <a:r>
              <a:rPr lang="en-US" sz="2400">
                <a:latin typeface="Baskerville Old Face" panose="02020602080505020303" pitchFamily="18" charset="77"/>
              </a:rPr>
              <a:t>organizational and management </a:t>
            </a:r>
            <a:r>
              <a:rPr lang="en-US" sz="2400" u="sng">
                <a:latin typeface="Baskerville Old Face" panose="02020602080505020303" pitchFamily="18" charset="77"/>
              </a:rPr>
              <a:t>challenges</a:t>
            </a:r>
          </a:p>
          <a:p>
            <a:r>
              <a:rPr lang="en-US" sz="2400">
                <a:latin typeface="Baskerville Old Face" panose="02020602080505020303" pitchFamily="18" charset="77"/>
              </a:rPr>
              <a:t>rather than on benefits</a:t>
            </a:r>
          </a:p>
          <a:p>
            <a:endParaRPr lang="en-US" sz="2400">
              <a:latin typeface="Baskerville Old Face" panose="02020602080505020303" pitchFamily="18" charset="77"/>
            </a:endParaRPr>
          </a:p>
        </p:txBody>
      </p:sp>
      <p:pic>
        <p:nvPicPr>
          <p:cNvPr id="5" name="Graphic 4" descr="Arrow Down with solid fill">
            <a:extLst>
              <a:ext uri="{FF2B5EF4-FFF2-40B4-BE49-F238E27FC236}">
                <a16:creationId xmlns:a16="http://schemas.microsoft.com/office/drawing/2014/main" id="{B6763D0F-5EE0-1C51-8BC5-A3AD3F878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114" y="3645426"/>
            <a:ext cx="457200" cy="457200"/>
          </a:xfrm>
          <a:prstGeom prst="rect">
            <a:avLst/>
          </a:prstGeom>
        </p:spPr>
      </p:pic>
      <p:pic>
        <p:nvPicPr>
          <p:cNvPr id="1026" name="Picture 2" descr="Space Talent | Top 6 Challenges Faced by Entrepreneurs and How to Overcome  Them">
            <a:extLst>
              <a:ext uri="{FF2B5EF4-FFF2-40B4-BE49-F238E27FC236}">
                <a16:creationId xmlns:a16="http://schemas.microsoft.com/office/drawing/2014/main" id="{F05FD926-22A0-23CB-6A9E-0F5955A15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108" y="2716081"/>
            <a:ext cx="4043378" cy="277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604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5904-4AC9-4A3E-A8B6-C1D18C18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Regarding queue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6173F-B4A0-EFEB-8EF5-CEB5B1678D6B}"/>
              </a:ext>
            </a:extLst>
          </p:cNvPr>
          <p:cNvSpPr txBox="1"/>
          <p:nvPr/>
        </p:nvSpPr>
        <p:spPr>
          <a:xfrm>
            <a:off x="838200" y="1981200"/>
            <a:ext cx="979787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System integration – complexity to intergrade existing systems with new ones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High initial investment – high capital initial cost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Discipline regarding data collection &amp; shop-floor behavior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Training for teams &amp;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Synergies with suppliers</a:t>
            </a:r>
          </a:p>
        </p:txBody>
      </p:sp>
      <p:pic>
        <p:nvPicPr>
          <p:cNvPr id="2050" name="Picture 2" descr="All You Need To Know About Bottleneck Analysis">
            <a:extLst>
              <a:ext uri="{FF2B5EF4-FFF2-40B4-BE49-F238E27FC236}">
                <a16:creationId xmlns:a16="http://schemas.microsoft.com/office/drawing/2014/main" id="{4673EDEA-76DA-97D5-DB6B-5A87E74A9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068197"/>
            <a:ext cx="5519854" cy="174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044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CED9-9129-575C-28BF-4DA12FF2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Regarding predictive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FAE1A-8F50-1FF5-1265-FA46B0D07C41}"/>
              </a:ext>
            </a:extLst>
          </p:cNvPr>
          <p:cNvSpPr txBox="1"/>
          <p:nvPr/>
        </p:nvSpPr>
        <p:spPr>
          <a:xfrm>
            <a:off x="838200" y="3929743"/>
            <a:ext cx="945322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Data readiness – need for clear, historical, structured and reliable data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Widespread adoption of model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Possible process redesign – revised KPIs &amp; cadence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Risk of over-automation or over-planning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Alignment of planning systems – all software must be on the same “track”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A23E4B-7AB0-70ED-E8E2-BD6DCFC11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033" y="1779459"/>
            <a:ext cx="3603624" cy="209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958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2A55-A1DB-AF91-A0B0-8FD38F98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Regarding DSW inbound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A4E0C-AE33-9727-F406-C44B9A9B0107}"/>
              </a:ext>
            </a:extLst>
          </p:cNvPr>
          <p:cNvSpPr txBox="1"/>
          <p:nvPr/>
        </p:nvSpPr>
        <p:spPr>
          <a:xfrm>
            <a:off x="838200" y="1981200"/>
            <a:ext cx="80874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Need for everything to be well classified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Possible underutilization or overutilization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Resource allocation – too much or not enough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Customer miscommunication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Possible internal fragmentation – can lead to bad coordination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014AB9-BB6F-2483-7107-122371ADC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971" y="2212810"/>
            <a:ext cx="2040451" cy="204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6EF21FE-1F04-4B9C-AD26-3F3FE76BAC2A}"/>
              </a:ext>
            </a:extLst>
          </p:cNvPr>
          <p:cNvGrpSpPr/>
          <p:nvPr/>
        </p:nvGrpSpPr>
        <p:grpSpPr>
          <a:xfrm>
            <a:off x="2293035" y="3934260"/>
            <a:ext cx="3802965" cy="1491175"/>
            <a:chOff x="2293035" y="3900268"/>
            <a:chExt cx="3802965" cy="1491175"/>
          </a:xfrm>
        </p:grpSpPr>
        <p:pic>
          <p:nvPicPr>
            <p:cNvPr id="5" name="Graphic 4" descr="Line arrow: Clockwise curve with solid fill">
              <a:extLst>
                <a:ext uri="{FF2B5EF4-FFF2-40B4-BE49-F238E27FC236}">
                  <a16:creationId xmlns:a16="http://schemas.microsoft.com/office/drawing/2014/main" id="{0B663D06-7580-8277-D4A5-21ECBA61E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5181600" y="4477043"/>
              <a:ext cx="914400" cy="914400"/>
            </a:xfrm>
            <a:prstGeom prst="rect">
              <a:avLst/>
            </a:prstGeom>
            <a:scene3d>
              <a:camera prst="orthographicFront">
                <a:rot lat="10800000" lon="0" rev="0"/>
              </a:camera>
              <a:lightRig rig="threePt" dir="t"/>
            </a:scene3d>
          </p:spPr>
        </p:pic>
        <p:pic>
          <p:nvPicPr>
            <p:cNvPr id="7" name="Graphic 6" descr="Line arrow: Clockwise curve with solid fill">
              <a:extLst>
                <a:ext uri="{FF2B5EF4-FFF2-40B4-BE49-F238E27FC236}">
                  <a16:creationId xmlns:a16="http://schemas.microsoft.com/office/drawing/2014/main" id="{6F9EECE6-5339-EC2D-E2E0-B75E295BB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5181600" y="3900268"/>
              <a:ext cx="914400" cy="91440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287D8D5-61C3-B271-C309-F680A308439B}"/>
                </a:ext>
              </a:extLst>
            </p:cNvPr>
            <p:cNvCxnSpPr/>
            <p:nvPr/>
          </p:nvCxnSpPr>
          <p:spPr>
            <a:xfrm>
              <a:off x="2293035" y="4645856"/>
              <a:ext cx="3015175" cy="0"/>
            </a:xfrm>
            <a:prstGeom prst="straightConnector1">
              <a:avLst/>
            </a:prstGeom>
            <a:ln w="730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E4E13BF-54AA-DAA1-F452-FB2294533125}"/>
              </a:ext>
            </a:extLst>
          </p:cNvPr>
          <p:cNvSpPr txBox="1"/>
          <p:nvPr/>
        </p:nvSpPr>
        <p:spPr>
          <a:xfrm>
            <a:off x="6047382" y="4062614"/>
            <a:ext cx="24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Internal repair channel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1669A-CFE0-2E7C-F039-4556FB6C327C}"/>
              </a:ext>
            </a:extLst>
          </p:cNvPr>
          <p:cNvSpPr txBox="1"/>
          <p:nvPr/>
        </p:nvSpPr>
        <p:spPr>
          <a:xfrm>
            <a:off x="6047382" y="4927749"/>
            <a:ext cx="24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External repair channel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D25EE3-60A8-4598-40E8-0ECBE227850E}"/>
              </a:ext>
            </a:extLst>
          </p:cNvPr>
          <p:cNvSpPr txBox="1"/>
          <p:nvPr/>
        </p:nvSpPr>
        <p:spPr>
          <a:xfrm>
            <a:off x="2293035" y="4797637"/>
            <a:ext cx="189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Existing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1AF16D-4DDB-438D-9A89-FC4064CFEB31}"/>
              </a:ext>
            </a:extLst>
          </p:cNvPr>
          <p:cNvSpPr txBox="1"/>
          <p:nvPr/>
        </p:nvSpPr>
        <p:spPr>
          <a:xfrm>
            <a:off x="3800622" y="5638721"/>
            <a:ext cx="247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Possible fragmentation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9B6DEE-0A17-3175-B911-150BF44B0889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5036281" y="4797637"/>
            <a:ext cx="145319" cy="84108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834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E9D9-242A-EDFE-B29D-ABF7C29C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Regarding quotation delays reduction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3AA4A-7BE2-D54D-A5DA-C655F2FC3EE1}"/>
              </a:ext>
            </a:extLst>
          </p:cNvPr>
          <p:cNvSpPr txBox="1"/>
          <p:nvPr/>
        </p:nvSpPr>
        <p:spPr>
          <a:xfrm>
            <a:off x="838200" y="1981200"/>
            <a:ext cx="861646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Issues regarding client behavior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Standardization vs Flexibility – risk of being too rigid or too simple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AI requires strong boundaries and clear guard-rails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Legal &amp; commercial risks with non-human approval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KPIs might be inconsistent/misaligned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Speed vs Liability - tradeoff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>
              <a:latin typeface="Baskerville Old Face" panose="02020602080505020303" pitchFamily="18" charset="77"/>
            </a:endParaRPr>
          </a:p>
        </p:txBody>
      </p:sp>
      <p:pic>
        <p:nvPicPr>
          <p:cNvPr id="5" name="Graphic 4" descr="Scales of justice with solid fill">
            <a:extLst>
              <a:ext uri="{FF2B5EF4-FFF2-40B4-BE49-F238E27FC236}">
                <a16:creationId xmlns:a16="http://schemas.microsoft.com/office/drawing/2014/main" id="{88B9004D-DA7A-81F9-EFD4-E8C356275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4542" y="2384808"/>
            <a:ext cx="3645877" cy="364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18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9272E0-EFB6-5887-331D-52E7031E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Regarding quotation delays reduction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DAD65-C4B9-EC23-C5D4-D0B92FE4A974}"/>
              </a:ext>
            </a:extLst>
          </p:cNvPr>
          <p:cNvSpPr txBox="1"/>
          <p:nvPr/>
        </p:nvSpPr>
        <p:spPr>
          <a:xfrm>
            <a:off x="838200" y="1981200"/>
            <a:ext cx="87783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Client don’t always perceive quotations delay as part of overall delay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Can make company look unorganized or unresponsive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Delay project start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Longer overall time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Re-prioritize tasks due to uncertain project start date - uncertainty</a:t>
            </a:r>
          </a:p>
        </p:txBody>
      </p:sp>
      <p:pic>
        <p:nvPicPr>
          <p:cNvPr id="9" name="Graphic 8" descr="Turtle with solid fill">
            <a:extLst>
              <a:ext uri="{FF2B5EF4-FFF2-40B4-BE49-F238E27FC236}">
                <a16:creationId xmlns:a16="http://schemas.microsoft.com/office/drawing/2014/main" id="{0C8B7800-805E-DAF0-ACCA-41CBAED2A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2384" y="4481188"/>
            <a:ext cx="1167232" cy="1167232"/>
          </a:xfrm>
          <a:prstGeom prst="rect">
            <a:avLst/>
          </a:prstGeom>
        </p:spPr>
      </p:pic>
      <p:pic>
        <p:nvPicPr>
          <p:cNvPr id="10" name="Graphic 9" descr="Rabbit with solid fill">
            <a:extLst>
              <a:ext uri="{FF2B5EF4-FFF2-40B4-BE49-F238E27FC236}">
                <a16:creationId xmlns:a16="http://schemas.microsoft.com/office/drawing/2014/main" id="{60855087-42EF-F4B3-7027-E02635707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7011" y="4481188"/>
            <a:ext cx="1167232" cy="11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95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EA932B6-3A63-9CC9-B8B5-E1C9AECD9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3" t="12381" r="12722" b="18413"/>
          <a:stretch/>
        </p:blipFill>
        <p:spPr bwMode="auto">
          <a:xfrm>
            <a:off x="7921221" y="2413851"/>
            <a:ext cx="3842733" cy="386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E0B03DE-791A-FF18-502D-B9E65EBCB806}"/>
              </a:ext>
            </a:extLst>
          </p:cNvPr>
          <p:cNvSpPr/>
          <p:nvPr/>
        </p:nvSpPr>
        <p:spPr>
          <a:xfrm>
            <a:off x="9377695" y="3812811"/>
            <a:ext cx="900000" cy="9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F18DD-1DA4-C61D-3EE7-A6EEA28C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Division-wide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7F57F-7450-C391-8D25-9AD33C6CFD50}"/>
              </a:ext>
            </a:extLst>
          </p:cNvPr>
          <p:cNvSpPr txBox="1"/>
          <p:nvPr/>
        </p:nvSpPr>
        <p:spPr>
          <a:xfrm>
            <a:off x="838200" y="1981200"/>
            <a:ext cx="900438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Fatigue – too many changes can lead to fatigue from staff &amp; customers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Change requires strong management, trust &amp; discipline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Strong governance regarding data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Interdependence of each recommendation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u="sng">
                <a:latin typeface="Baskerville Old Face" panose="02020602080505020303" pitchFamily="18" charset="77"/>
              </a:rPr>
              <a:t>Isolated implementation</a:t>
            </a:r>
            <a:r>
              <a:rPr lang="en-US" sz="2400">
                <a:latin typeface="Baskerville Old Face" panose="02020602080505020303" pitchFamily="18" charset="77"/>
              </a:rPr>
              <a:t> = </a:t>
            </a:r>
            <a:r>
              <a:rPr lang="en-US" sz="2400" u="sng">
                <a:latin typeface="Baskerville Old Face" panose="02020602080505020303" pitchFamily="18" charset="77"/>
              </a:rPr>
              <a:t>limited impact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4A81EB-2A8D-85B5-06D3-3F9E4F21817D}"/>
              </a:ext>
            </a:extLst>
          </p:cNvPr>
          <p:cNvGrpSpPr/>
          <p:nvPr/>
        </p:nvGrpSpPr>
        <p:grpSpPr>
          <a:xfrm>
            <a:off x="8349955" y="3202659"/>
            <a:ext cx="3003843" cy="2249363"/>
            <a:chOff x="8664580" y="3514688"/>
            <a:chExt cx="2393866" cy="18833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2B4BE3-68B7-8F71-E242-E90ED5E205ED}"/>
                </a:ext>
              </a:extLst>
            </p:cNvPr>
            <p:cNvSpPr txBox="1"/>
            <p:nvPr/>
          </p:nvSpPr>
          <p:spPr>
            <a:xfrm>
              <a:off x="9464962" y="4113870"/>
              <a:ext cx="755251" cy="54116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/>
                <a:t>Motion</a:t>
              </a:r>
            </a:p>
            <a:p>
              <a:pPr algn="ctr"/>
              <a:r>
                <a:rPr lang="en-US"/>
                <a:t>division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04DEB5-F50D-FC61-7893-18C523D16E77}"/>
                </a:ext>
              </a:extLst>
            </p:cNvPr>
            <p:cNvSpPr txBox="1"/>
            <p:nvPr/>
          </p:nvSpPr>
          <p:spPr>
            <a:xfrm>
              <a:off x="10270594" y="5088828"/>
              <a:ext cx="787852" cy="30923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Sub-div.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9E0D04-0EFB-1F84-5D8E-B7A06F1CE81D}"/>
                </a:ext>
              </a:extLst>
            </p:cNvPr>
            <p:cNvSpPr txBox="1"/>
            <p:nvPr/>
          </p:nvSpPr>
          <p:spPr>
            <a:xfrm>
              <a:off x="10270594" y="3514688"/>
              <a:ext cx="787852" cy="30923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Sub-div.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258C1F-67A5-27D3-B7F0-9E4112F9B13E}"/>
                </a:ext>
              </a:extLst>
            </p:cNvPr>
            <p:cNvSpPr txBox="1"/>
            <p:nvPr/>
          </p:nvSpPr>
          <p:spPr>
            <a:xfrm>
              <a:off x="8664580" y="5088827"/>
              <a:ext cx="787853" cy="30923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Sub-div.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B217C1-AC12-BCB7-6FB1-079D502978E5}"/>
                </a:ext>
              </a:extLst>
            </p:cNvPr>
            <p:cNvSpPr txBox="1"/>
            <p:nvPr/>
          </p:nvSpPr>
          <p:spPr>
            <a:xfrm>
              <a:off x="8664582" y="3514689"/>
              <a:ext cx="787852" cy="309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Sub-div.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AC8EBE-6102-DFA7-3772-82620C945CD7}"/>
              </a:ext>
            </a:extLst>
          </p:cNvPr>
          <p:cNvCxnSpPr>
            <a:cxnSpLocks/>
          </p:cNvCxnSpPr>
          <p:nvPr/>
        </p:nvCxnSpPr>
        <p:spPr>
          <a:xfrm>
            <a:off x="8786942" y="3527063"/>
            <a:ext cx="590753" cy="47888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2085DA-D48B-6302-2D0E-5AEFE74D5733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844258" y="4551493"/>
            <a:ext cx="533437" cy="531197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A6477E-B8F4-42CB-E492-C9244396F5AA}"/>
              </a:ext>
            </a:extLst>
          </p:cNvPr>
          <p:cNvCxnSpPr>
            <a:cxnSpLocks/>
          </p:cNvCxnSpPr>
          <p:nvPr/>
        </p:nvCxnSpPr>
        <p:spPr>
          <a:xfrm>
            <a:off x="10220146" y="4564607"/>
            <a:ext cx="672583" cy="518083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740EDB-CBBB-1EB4-EFDF-067E66CCD205}"/>
              </a:ext>
            </a:extLst>
          </p:cNvPr>
          <p:cNvCxnSpPr>
            <a:cxnSpLocks/>
          </p:cNvCxnSpPr>
          <p:nvPr/>
        </p:nvCxnSpPr>
        <p:spPr>
          <a:xfrm flipH="1">
            <a:off x="10248920" y="3505147"/>
            <a:ext cx="533437" cy="531197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9796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B45E-B20D-B881-B9D8-884A1B70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Mitigation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1211D-9BC9-8740-0AF9-FA42831E4610}"/>
              </a:ext>
            </a:extLst>
          </p:cNvPr>
          <p:cNvSpPr txBox="1"/>
          <p:nvPr/>
        </p:nvSpPr>
        <p:spPr>
          <a:xfrm>
            <a:off x="838200" y="1981200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Pilot program: Test queue visualization &amp; DSW segmentation on a </a:t>
            </a:r>
            <a:r>
              <a:rPr lang="en-US" sz="2400" u="sng">
                <a:latin typeface="Baskerville Old Face" panose="02020602080505020303" pitchFamily="18" charset="77"/>
              </a:rPr>
              <a:t>small scale</a:t>
            </a:r>
            <a:r>
              <a:rPr lang="en-US" sz="2400">
                <a:latin typeface="Baskerville Old Face" panose="02020602080505020303" pitchFamily="18" charset="77"/>
              </a:rPr>
              <a:t> – if it works, roll out division-wide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Data cleaning &amp; structuring for AI to work well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AI </a:t>
            </a:r>
            <a:r>
              <a:rPr lang="en-US" sz="2400" u="sng">
                <a:latin typeface="Baskerville Old Face" panose="02020602080505020303" pitchFamily="18" charset="77"/>
              </a:rPr>
              <a:t>validation</a:t>
            </a:r>
            <a:r>
              <a:rPr lang="en-US" sz="2400">
                <a:latin typeface="Baskerville Old Face" panose="02020602080505020303" pitchFamily="18" charset="77"/>
              </a:rPr>
              <a:t> – make sure early AI decisions are verified by humans, help with learning &amp; boundaries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Customer </a:t>
            </a:r>
            <a:r>
              <a:rPr lang="en-US" sz="2400" u="sng">
                <a:latin typeface="Baskerville Old Face" panose="02020602080505020303" pitchFamily="18" charset="77"/>
              </a:rPr>
              <a:t>alignment</a:t>
            </a:r>
            <a:r>
              <a:rPr lang="en-US" sz="2400">
                <a:latin typeface="Baskerville Old Face" panose="02020602080505020303" pitchFamily="18" charset="77"/>
              </a:rPr>
              <a:t> – keep customers in the loop &amp; work with them, design potential changes together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Transformation roadmap – not everything at the same time, give time for </a:t>
            </a:r>
            <a:r>
              <a:rPr lang="en-US" sz="2400" u="sng">
                <a:latin typeface="Baskerville Old Face" panose="02020602080505020303" pitchFamily="18" charset="77"/>
              </a:rPr>
              <a:t>adaptation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>
                <a:latin typeface="Baskerville Old Face" panose="02020602080505020303" pitchFamily="18" charset="77"/>
              </a:rPr>
              <a:t>Careful about over-changing things – not everything needs to be changed, but some things can be optimized</a:t>
            </a:r>
          </a:p>
        </p:txBody>
      </p:sp>
    </p:spTree>
    <p:extLst>
      <p:ext uri="{BB962C8B-B14F-4D97-AF65-F5344CB8AC3E}">
        <p14:creationId xmlns:p14="http://schemas.microsoft.com/office/powerpoint/2010/main" val="3221609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62C0-FA78-C61E-3CB2-E7470A3B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609456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AE64B8449931F74DB682936BD549B5CD" ma:contentTypeVersion="3" ma:contentTypeDescription="Luo uusi asiakirja." ma:contentTypeScope="" ma:versionID="4bf96efb476587fd37557dff1bfedb1c">
  <xsd:schema xmlns:xsd="http://www.w3.org/2001/XMLSchema" xmlns:xs="http://www.w3.org/2001/XMLSchema" xmlns:p="http://schemas.microsoft.com/office/2006/metadata/properties" xmlns:ns2="12cab75f-2f73-4ed7-9559-e564b1facdde" targetNamespace="http://schemas.microsoft.com/office/2006/metadata/properties" ma:root="true" ma:fieldsID="62463c88a7b8b68a26f462f93a0d5d47" ns2:_="">
    <xsd:import namespace="12cab75f-2f73-4ed7-9559-e564b1facd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ab75f-2f73-4ed7-9559-e564b1fac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3DB7B4-A669-4F8C-9244-39731237FCA3}">
  <ds:schemaRefs>
    <ds:schemaRef ds:uri="12cab75f-2f73-4ed7-9559-e564b1facd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0561EBF-35A5-4F46-83FC-6ADCC2248FC0}">
  <ds:schemaRefs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12cab75f-2f73-4ed7-9559-e564b1facdde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018C4B-2ECE-4E8A-A35B-40C67F8FCE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3005</Words>
  <Application>Microsoft Macintosh PowerPoint</Application>
  <PresentationFormat>Widescreen</PresentationFormat>
  <Paragraphs>392</Paragraphs>
  <Slides>40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Aptos</vt:lpstr>
      <vt:lpstr>Arial</vt:lpstr>
      <vt:lpstr>Baskerville Old Face</vt:lpstr>
      <vt:lpstr>Calibri</vt:lpstr>
      <vt:lpstr>Courier New</vt:lpstr>
      <vt:lpstr>Times New Roman</vt:lpstr>
      <vt:lpstr>Wingdings</vt:lpstr>
      <vt:lpstr>Office Theme</vt:lpstr>
      <vt:lpstr>Custom Design</vt:lpstr>
      <vt:lpstr>1_Custom Design</vt:lpstr>
      <vt:lpstr>ABB Case Study</vt:lpstr>
      <vt:lpstr>Background </vt:lpstr>
      <vt:lpstr>Analysis methods</vt:lpstr>
      <vt:lpstr>Results</vt:lpstr>
      <vt:lpstr>Outcome analysis (Python): What drives lead time and variability</vt:lpstr>
      <vt:lpstr>Data used and how we interpret lead time</vt:lpstr>
      <vt:lpstr>Retrofit demand changed materially in 2025 (and it is lumpy)</vt:lpstr>
      <vt:lpstr>Overtime looks like a backlog symptom, not a simple ‘high demand’ reaction</vt:lpstr>
      <vt:lpstr>Modernization lead time has a long tail (reliability problem)</vt:lpstr>
      <vt:lpstr>The bottleneck is pre‑assembly waiting, not assembly work</vt:lpstr>
      <vt:lpstr>Different order types need different planning rules</vt:lpstr>
      <vt:lpstr>DSW variability comes mainly before ABB can start work</vt:lpstr>
      <vt:lpstr>Once the unit is received, processing is typically quick</vt:lpstr>
      <vt:lpstr>Quotation approval adds lead time and uncertainty upstream</vt:lpstr>
      <vt:lpstr>Capacity and planning dashboard</vt:lpstr>
      <vt:lpstr>Lead-time strcuture dashboard</vt:lpstr>
      <vt:lpstr>Repair flow dashboard</vt:lpstr>
      <vt:lpstr>What the data points to (and what we propose)</vt:lpstr>
      <vt:lpstr>Recommendations</vt:lpstr>
      <vt:lpstr>Overview</vt:lpstr>
      <vt:lpstr>Queue visualization - Modernization</vt:lpstr>
      <vt:lpstr>Queue visualization - Benefits</vt:lpstr>
      <vt:lpstr>From reactive to predictive planning - Switch</vt:lpstr>
      <vt:lpstr>From reactive to predictive planning - Data</vt:lpstr>
      <vt:lpstr>From reactive to predictive planning - Benefits</vt:lpstr>
      <vt:lpstr>Inbound pipeline for DSW - Operations</vt:lpstr>
      <vt:lpstr>Inbound pipeline for DSW - Segmentation</vt:lpstr>
      <vt:lpstr>Reducing quotation approval delays - Benefits</vt:lpstr>
      <vt:lpstr>Reducing quotation approval delays - Specifics</vt:lpstr>
      <vt:lpstr>Reducing quotation approval delays - AI</vt:lpstr>
      <vt:lpstr>Implementation challenges</vt:lpstr>
      <vt:lpstr>Overview</vt:lpstr>
      <vt:lpstr>Regarding queue visualization</vt:lpstr>
      <vt:lpstr>Regarding predictive planning</vt:lpstr>
      <vt:lpstr>Regarding DSW inbound pipeline</vt:lpstr>
      <vt:lpstr>Regarding quotation delays reduction 1</vt:lpstr>
      <vt:lpstr>Regarding quotation delays reduction 2</vt:lpstr>
      <vt:lpstr>Division-wide challenges</vt:lpstr>
      <vt:lpstr>Mitigation approach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Vial</dc:creator>
  <cp:lastModifiedBy>Pham Anh</cp:lastModifiedBy>
  <cp:revision>2</cp:revision>
  <dcterms:created xsi:type="dcterms:W3CDTF">2026-02-05T15:29:57Z</dcterms:created>
  <dcterms:modified xsi:type="dcterms:W3CDTF">2026-02-13T08:34:50Z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0x010100AE64B8449931F74DB682936BD549B5CD</vt:lpwstr>
  </property>
</Properties>
</file>