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
  </p:notesMasterIdLst>
  <p:sldIdLst>
    <p:sldId id="262" r:id="rId2"/>
    <p:sldId id="257" r:id="rId3"/>
    <p:sldId id="258" r:id="rId4"/>
    <p:sldId id="259" r:id="rId5"/>
    <p:sldId id="260" r:id="rId6"/>
    <p:sldId id="261"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li Mustakallio"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142640-6E29-4FFE-AFD9-05796FD3219C}">
  <a:tblStyle styleId="{95142640-6E29-4FFE-AFD9-05796FD3219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2d3ac3605a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2d3ac3605a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d3ac3605a6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d3ac3605a6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d3c267a4e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d3c267a4e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d3ac3605a6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d3ac3605a6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d3f0fc7bd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d3f0fc7bdd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F8F9C26-CFE9-3BCC-D41A-FCF8A70FDD2B}"/>
              </a:ext>
            </a:extLst>
          </p:cNvPr>
          <p:cNvSpPr>
            <a:spLocks noGrp="1"/>
          </p:cNvSpPr>
          <p:nvPr>
            <p:ph type="title"/>
          </p:nvPr>
        </p:nvSpPr>
        <p:spPr>
          <a:xfrm>
            <a:off x="311700" y="2287975"/>
            <a:ext cx="8520600" cy="572700"/>
          </a:xfrm>
        </p:spPr>
        <p:txBody>
          <a:bodyPr wrap="square" anchor="ctr">
            <a:normAutofit/>
          </a:bodyPr>
          <a:lstStyle/>
          <a:p>
            <a:pPr>
              <a:lnSpc>
                <a:spcPct val="90000"/>
              </a:lnSpc>
            </a:pPr>
            <a:r>
              <a:rPr lang="en-US" sz="2600" b="1" dirty="0"/>
              <a:t>Impact of weather on delivery times</a:t>
            </a:r>
            <a:endParaRPr lang="fi-FI" sz="2600" dirty="0"/>
          </a:p>
        </p:txBody>
      </p:sp>
      <p:sp>
        <p:nvSpPr>
          <p:cNvPr id="3" name="Alaotsikko 2">
            <a:extLst>
              <a:ext uri="{FF2B5EF4-FFF2-40B4-BE49-F238E27FC236}">
                <a16:creationId xmlns:a16="http://schemas.microsoft.com/office/drawing/2014/main" id="{4396F53F-D71C-B094-8D59-5607C83891BD}"/>
              </a:ext>
            </a:extLst>
          </p:cNvPr>
          <p:cNvSpPr>
            <a:spLocks noGrp="1"/>
          </p:cNvSpPr>
          <p:nvPr>
            <p:ph type="body" idx="4294967295"/>
          </p:nvPr>
        </p:nvSpPr>
        <p:spPr>
          <a:xfrm>
            <a:off x="311700" y="2860675"/>
            <a:ext cx="8520600" cy="3416400"/>
          </a:xfrm>
        </p:spPr>
        <p:txBody>
          <a:bodyPr wrap="square" anchor="t">
            <a:normAutofit/>
          </a:bodyPr>
          <a:lstStyle/>
          <a:p>
            <a:pPr marL="114300" indent="0">
              <a:spcAft>
                <a:spcPts val="600"/>
              </a:spcAft>
              <a:buClr>
                <a:srgbClr val="000000"/>
              </a:buClr>
              <a:buFont typeface="Arial"/>
              <a:buNone/>
            </a:pPr>
            <a:r>
              <a:rPr lang="en-US" sz="1600" b="0" i="0" u="none" strike="noStrike" cap="none" dirty="0"/>
              <a:t>Group 25</a:t>
            </a:r>
          </a:p>
          <a:p>
            <a:pPr marL="114300" indent="0">
              <a:spcAft>
                <a:spcPts val="600"/>
              </a:spcAft>
              <a:buClr>
                <a:srgbClr val="000000"/>
              </a:buClr>
              <a:buFont typeface="Arial"/>
              <a:buNone/>
            </a:pPr>
            <a:r>
              <a:rPr lang="en-US" sz="1400" b="0" i="0" u="none" strike="noStrike" cap="none" dirty="0"/>
              <a:t>Anh Pham, </a:t>
            </a:r>
            <a:r>
              <a:rPr lang="en-US" sz="1400" b="0" i="0" u="none" strike="noStrike" cap="none" dirty="0" err="1"/>
              <a:t>Kaapo</a:t>
            </a:r>
            <a:r>
              <a:rPr lang="en-US" sz="1400" b="0" i="0" u="none" strike="noStrike" cap="none" dirty="0"/>
              <a:t> </a:t>
            </a:r>
            <a:r>
              <a:rPr lang="en-US" sz="1400" b="0" i="0" u="none" strike="noStrike" cap="none" dirty="0" err="1"/>
              <a:t>Lahtinen</a:t>
            </a:r>
            <a:r>
              <a:rPr lang="en-US" sz="1400" b="0" i="0" u="none" strike="noStrike" cap="none" dirty="0"/>
              <a:t>, Vili </a:t>
            </a:r>
            <a:r>
              <a:rPr lang="en-US" sz="1400" b="0" i="0" u="none" strike="noStrike" cap="none" dirty="0" err="1"/>
              <a:t>Mustakallio</a:t>
            </a:r>
            <a:r>
              <a:rPr lang="en-US" sz="1400" b="0" i="0" u="none" strike="noStrike" cap="none" dirty="0"/>
              <a:t>, Tomi </a:t>
            </a:r>
            <a:r>
              <a:rPr lang="en-US" sz="1400" b="0" i="0" u="none" strike="noStrike" cap="none" dirty="0" err="1"/>
              <a:t>Seppälä</a:t>
            </a:r>
            <a:r>
              <a:rPr lang="en-US" sz="1400" b="0" i="0" u="none" strike="noStrike" cap="none" dirty="0"/>
              <a:t> and Maksim </a:t>
            </a:r>
            <a:r>
              <a:rPr lang="en-US" sz="1400" b="0" i="0" u="none" strike="noStrike" cap="none" dirty="0" err="1"/>
              <a:t>Somelar</a:t>
            </a:r>
            <a:endParaRPr lang="en-US" sz="1400" b="0" i="0" u="none" strike="noStrike" cap="none" dirty="0"/>
          </a:p>
          <a:p>
            <a:endParaRPr lang="fi-FI" dirty="0"/>
          </a:p>
        </p:txBody>
      </p:sp>
    </p:spTree>
    <p:extLst>
      <p:ext uri="{BB962C8B-B14F-4D97-AF65-F5344CB8AC3E}">
        <p14:creationId xmlns:p14="http://schemas.microsoft.com/office/powerpoint/2010/main" val="306293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Introduction </a:t>
            </a:r>
            <a:endParaRPr dirty="0"/>
          </a:p>
        </p:txBody>
      </p:sp>
      <p:sp>
        <p:nvSpPr>
          <p:cNvPr id="60" name="Google Shape;60;p14"/>
          <p:cNvSpPr txBox="1">
            <a:spLocks noGrp="1"/>
          </p:cNvSpPr>
          <p:nvPr>
            <p:ph type="body" idx="1"/>
          </p:nvPr>
        </p:nvSpPr>
        <p:spPr>
          <a:xfrm>
            <a:off x="311700" y="1130400"/>
            <a:ext cx="5710800" cy="36933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GB" b="1" dirty="0"/>
              <a:t>Business Problem: How Does Weather Impact Delivery Times?</a:t>
            </a:r>
            <a:endParaRPr b="1" dirty="0"/>
          </a:p>
          <a:p>
            <a:pPr marL="457200" lvl="0" indent="-300037" algn="l" rtl="0">
              <a:spcBef>
                <a:spcPts val="1200"/>
              </a:spcBef>
              <a:spcAft>
                <a:spcPts val="0"/>
              </a:spcAft>
              <a:buSzPct val="100000"/>
              <a:buChar char="-"/>
            </a:pPr>
            <a:r>
              <a:rPr lang="en-GB" dirty="0"/>
              <a:t>Accurately predicting delivery times under varying weather conditions would enable the company to optimize its resources and better manage operations. </a:t>
            </a:r>
            <a:endParaRPr dirty="0"/>
          </a:p>
          <a:p>
            <a:pPr marL="457200" lvl="0" indent="-300037" algn="l" rtl="0">
              <a:spcBef>
                <a:spcPts val="0"/>
              </a:spcBef>
              <a:spcAft>
                <a:spcPts val="0"/>
              </a:spcAft>
              <a:buSzPct val="100000"/>
              <a:buChar char="-"/>
            </a:pPr>
            <a:r>
              <a:rPr lang="en-GB" dirty="0"/>
              <a:t>Forecasting potential delays would allow the company to notify customers in advance, improving transparency and customer satisfaction. </a:t>
            </a:r>
            <a:endParaRPr dirty="0"/>
          </a:p>
          <a:p>
            <a:pPr marL="0" lvl="0" indent="0" algn="l" rtl="0">
              <a:spcBef>
                <a:spcPts val="1200"/>
              </a:spcBef>
              <a:spcAft>
                <a:spcPts val="0"/>
              </a:spcAft>
              <a:buNone/>
            </a:pPr>
            <a:r>
              <a:rPr lang="en-GB" b="1" dirty="0"/>
              <a:t>Data source: </a:t>
            </a:r>
            <a:r>
              <a:rPr lang="en-GB" b="1" dirty="0" err="1"/>
              <a:t>Wolt</a:t>
            </a:r>
            <a:r>
              <a:rPr lang="en-GB" b="1" dirty="0"/>
              <a:t> internship 2024</a:t>
            </a:r>
            <a:endParaRPr b="1" dirty="0"/>
          </a:p>
          <a:p>
            <a:pPr marL="0" lvl="0" indent="0" algn="l" rtl="0">
              <a:spcBef>
                <a:spcPts val="1200"/>
              </a:spcBef>
              <a:spcAft>
                <a:spcPts val="0"/>
              </a:spcAft>
              <a:buNone/>
            </a:pPr>
            <a:r>
              <a:rPr lang="en-GB" b="1" dirty="0"/>
              <a:t>Attributes of </a:t>
            </a:r>
            <a:r>
              <a:rPr lang="en-GB" b="1" dirty="0" err="1"/>
              <a:t>preprocessed</a:t>
            </a:r>
            <a:r>
              <a:rPr lang="en-GB" b="1" dirty="0"/>
              <a:t> data:</a:t>
            </a:r>
            <a:endParaRPr sz="1100" b="1" dirty="0">
              <a:solidFill>
                <a:schemeClr val="dk1"/>
              </a:solidFill>
              <a:highlight>
                <a:srgbClr val="FFFFFF"/>
              </a:highlight>
            </a:endParaRPr>
          </a:p>
          <a:p>
            <a:pPr marL="457200" lvl="0" indent="-300037" algn="l" rtl="0">
              <a:spcBef>
                <a:spcPts val="1200"/>
              </a:spcBef>
              <a:spcAft>
                <a:spcPts val="0"/>
              </a:spcAft>
              <a:buSzPct val="100000"/>
              <a:buChar char="-"/>
            </a:pPr>
            <a:r>
              <a:rPr lang="en-GB" dirty="0"/>
              <a:t>18429 entries; 8 features and </a:t>
            </a:r>
            <a:r>
              <a:rPr lang="en-GB" i="1" dirty="0"/>
              <a:t>actual delivery minutes</a:t>
            </a:r>
            <a:r>
              <a:rPr lang="en-GB" dirty="0"/>
              <a:t> as a target variable</a:t>
            </a:r>
            <a:endParaRPr dirty="0"/>
          </a:p>
          <a:p>
            <a:pPr marL="457200" lvl="0" indent="-300037" algn="l" rtl="0">
              <a:spcBef>
                <a:spcPts val="0"/>
              </a:spcBef>
              <a:spcAft>
                <a:spcPts val="0"/>
              </a:spcAft>
              <a:buSzPct val="100000"/>
              <a:buChar char="-"/>
            </a:pPr>
            <a:r>
              <a:rPr lang="en-GB" dirty="0"/>
              <a:t>Weather features: cloud coverage, temperature, wind speed, precipitation</a:t>
            </a:r>
            <a:endParaRPr dirty="0"/>
          </a:p>
          <a:p>
            <a:pPr marL="457200" lvl="0" indent="-300037" algn="l" rtl="0">
              <a:spcBef>
                <a:spcPts val="0"/>
              </a:spcBef>
              <a:spcAft>
                <a:spcPts val="0"/>
              </a:spcAft>
              <a:buSzPct val="100000"/>
              <a:buChar char="-"/>
            </a:pPr>
            <a:r>
              <a:rPr lang="en-GB" dirty="0"/>
              <a:t>Other features: distance, item count, rush hour binary, weekend binary</a:t>
            </a:r>
            <a:endParaRPr dirty="0"/>
          </a:p>
          <a:p>
            <a:pPr marL="0" lvl="0" indent="0" algn="l" rtl="0">
              <a:spcBef>
                <a:spcPts val="1200"/>
              </a:spcBef>
              <a:spcAft>
                <a:spcPts val="0"/>
              </a:spcAft>
              <a:buNone/>
            </a:pPr>
            <a:r>
              <a:rPr lang="en-GB" b="1" dirty="0"/>
              <a:t>Models used:</a:t>
            </a:r>
            <a:endParaRPr b="1" dirty="0"/>
          </a:p>
          <a:p>
            <a:pPr marL="457200" lvl="0" indent="-300037" algn="l" rtl="0">
              <a:spcBef>
                <a:spcPts val="1200"/>
              </a:spcBef>
              <a:spcAft>
                <a:spcPts val="0"/>
              </a:spcAft>
              <a:buSzPct val="100000"/>
              <a:buChar char="-"/>
            </a:pPr>
            <a:r>
              <a:rPr lang="en-GB" dirty="0"/>
              <a:t>Linear regression</a:t>
            </a:r>
            <a:endParaRPr dirty="0"/>
          </a:p>
          <a:p>
            <a:pPr marL="457200" lvl="0" indent="-300037" algn="l" rtl="0">
              <a:spcBef>
                <a:spcPts val="0"/>
              </a:spcBef>
              <a:spcAft>
                <a:spcPts val="0"/>
              </a:spcAft>
              <a:buSzPct val="100000"/>
              <a:buChar char="-"/>
            </a:pPr>
            <a:r>
              <a:rPr lang="en-GB" dirty="0"/>
              <a:t>Random Forest &amp; </a:t>
            </a:r>
            <a:r>
              <a:rPr lang="en-GB" dirty="0" err="1"/>
              <a:t>XGBoost</a:t>
            </a:r>
            <a:endParaRPr dirty="0"/>
          </a:p>
          <a:p>
            <a:pPr marL="457200" lvl="0" indent="-300037" algn="l" rtl="0">
              <a:spcBef>
                <a:spcPts val="0"/>
              </a:spcBef>
              <a:spcAft>
                <a:spcPts val="0"/>
              </a:spcAft>
              <a:buSzPct val="100000"/>
              <a:buChar char="-"/>
            </a:pPr>
            <a:r>
              <a:rPr lang="en-GB" dirty="0"/>
              <a:t>Ridge &amp; Lasso</a:t>
            </a:r>
            <a:endParaRPr dirty="0"/>
          </a:p>
        </p:txBody>
      </p:sp>
      <p:pic>
        <p:nvPicPr>
          <p:cNvPr id="61" name="Google Shape;61;p14"/>
          <p:cNvPicPr preferRelativeResize="0"/>
          <p:nvPr/>
        </p:nvPicPr>
        <p:blipFill>
          <a:blip r:embed="rId3">
            <a:alphaModFix/>
          </a:blip>
          <a:stretch>
            <a:fillRect/>
          </a:stretch>
        </p:blipFill>
        <p:spPr>
          <a:xfrm>
            <a:off x="6527181" y="445025"/>
            <a:ext cx="2094908" cy="2067716"/>
          </a:xfrm>
          <a:prstGeom prst="rect">
            <a:avLst/>
          </a:prstGeom>
          <a:noFill/>
          <a:ln>
            <a:noFill/>
          </a:ln>
        </p:spPr>
      </p:pic>
      <p:sp>
        <p:nvSpPr>
          <p:cNvPr id="62" name="Google Shape;62;p14"/>
          <p:cNvSpPr txBox="1"/>
          <p:nvPr/>
        </p:nvSpPr>
        <p:spPr>
          <a:xfrm>
            <a:off x="6119625" y="3316750"/>
            <a:ext cx="2050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63" name="Google Shape;63;p14"/>
          <p:cNvPicPr preferRelativeResize="0"/>
          <p:nvPr/>
        </p:nvPicPr>
        <p:blipFill>
          <a:blip r:embed="rId4">
            <a:alphaModFix/>
          </a:blip>
          <a:stretch>
            <a:fillRect/>
          </a:stretch>
        </p:blipFill>
        <p:spPr>
          <a:xfrm>
            <a:off x="6119624" y="2724100"/>
            <a:ext cx="2673450" cy="2152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GB" sz="2600" dirty="0"/>
              <a:t>Solution process</a:t>
            </a:r>
          </a:p>
        </p:txBody>
      </p:sp>
      <p:sp>
        <p:nvSpPr>
          <p:cNvPr id="69" name="Google Shape;69;p15"/>
          <p:cNvSpPr txBox="1">
            <a:spLocks noGrp="1"/>
          </p:cNvSpPr>
          <p:nvPr>
            <p:ph type="body" idx="4294967295"/>
          </p:nvPr>
        </p:nvSpPr>
        <p:spPr>
          <a:xfrm>
            <a:off x="311700" y="1208225"/>
            <a:ext cx="8520600" cy="3264408"/>
          </a:xfrm>
        </p:spPr>
        <p:txBody>
          <a:bodyPr spcFirstLastPara="1" lIns="91425" tIns="91425" rIns="91425" bIns="91425" anchor="t" anchorCtr="0">
            <a:normAutofit fontScale="92500" lnSpcReduction="20000"/>
          </a:bodyPr>
          <a:lstStyle/>
          <a:p>
            <a:pPr marL="0" lvl="0" indent="0" algn="l" rtl="0">
              <a:spcBef>
                <a:spcPts val="0"/>
              </a:spcBef>
              <a:spcAft>
                <a:spcPts val="0"/>
              </a:spcAft>
              <a:buNone/>
            </a:pPr>
            <a:r>
              <a:rPr lang="en-US" sz="1500" b="1" dirty="0"/>
              <a:t>Linear regression</a:t>
            </a:r>
            <a:endParaRPr lang="en-US" sz="1500" dirty="0"/>
          </a:p>
          <a:p>
            <a:pPr indent="-300037">
              <a:spcBef>
                <a:spcPts val="1200"/>
              </a:spcBef>
              <a:buSzPct val="100000"/>
              <a:buFont typeface="Arial"/>
              <a:buChar char="-"/>
            </a:pPr>
            <a:r>
              <a:rPr lang="en-US" sz="1600" dirty="0"/>
              <a:t>Provides simple and easy to read model that can be used as a baseline for more complex methods</a:t>
            </a:r>
          </a:p>
          <a:p>
            <a:pPr marL="0" lvl="0" indent="0" algn="l" rtl="0">
              <a:spcBef>
                <a:spcPts val="1200"/>
              </a:spcBef>
              <a:spcAft>
                <a:spcPts val="0"/>
              </a:spcAft>
              <a:buNone/>
            </a:pPr>
            <a:r>
              <a:rPr lang="en-US" sz="1500" b="1" dirty="0"/>
              <a:t>Random Forest</a:t>
            </a:r>
            <a:endParaRPr lang="en-US" sz="1500" b="1" dirty="0">
              <a:solidFill>
                <a:schemeClr val="dk1"/>
              </a:solidFill>
              <a:highlight>
                <a:srgbClr val="FFFFFF"/>
              </a:highlight>
            </a:endParaRPr>
          </a:p>
          <a:p>
            <a:pPr lvl="0" indent="-300037">
              <a:spcBef>
                <a:spcPts val="1200"/>
              </a:spcBef>
              <a:buSzPct val="100000"/>
              <a:buFont typeface="Arial"/>
              <a:buChar char="-"/>
            </a:pPr>
            <a:r>
              <a:rPr lang="en-US" sz="1500" dirty="0"/>
              <a:t>Captures more complex, non-linear interactions between variables and help identify which variables have the most significant effect</a:t>
            </a:r>
          </a:p>
          <a:p>
            <a:pPr lvl="1" indent="-300037">
              <a:buSzPct val="100000"/>
              <a:buFont typeface="Arial"/>
              <a:buChar char="-"/>
            </a:pPr>
            <a:r>
              <a:rPr lang="en-US" sz="1300" dirty="0"/>
              <a:t>Light drizzle might have no effect on delivery times while heavy rain might have significant effect</a:t>
            </a:r>
          </a:p>
          <a:p>
            <a:pPr lvl="1" indent="-300037">
              <a:buSzPct val="100000"/>
              <a:buFont typeface="Arial"/>
              <a:buChar char="-"/>
            </a:pPr>
            <a:r>
              <a:rPr lang="en-US" sz="1300" dirty="0"/>
              <a:t>Traffic might have more effect in the delivery times than wind</a:t>
            </a:r>
          </a:p>
          <a:p>
            <a:pPr marL="0" lvl="0" indent="0" algn="l" rtl="0">
              <a:spcBef>
                <a:spcPts val="1200"/>
              </a:spcBef>
              <a:spcAft>
                <a:spcPts val="0"/>
              </a:spcAft>
              <a:buNone/>
            </a:pPr>
            <a:r>
              <a:rPr lang="en-US" sz="1500" b="1" dirty="0" err="1"/>
              <a:t>XGBoost</a:t>
            </a:r>
            <a:endParaRPr lang="en-US" sz="1500" b="1" dirty="0"/>
          </a:p>
          <a:p>
            <a:pPr indent="-300037">
              <a:spcBef>
                <a:spcPts val="1200"/>
              </a:spcBef>
              <a:buSzPct val="100000"/>
              <a:buFont typeface="Arial"/>
              <a:buChar char="-"/>
            </a:pPr>
            <a:r>
              <a:rPr lang="en-US" sz="1500" dirty="0"/>
              <a:t>Enhances the model as the random forest seemed to give bad results.</a:t>
            </a:r>
          </a:p>
          <a:p>
            <a:pPr lvl="1" indent="-300037">
              <a:buSzPct val="100000"/>
              <a:buFont typeface="Arial"/>
              <a:buChar char="-"/>
            </a:pPr>
            <a:r>
              <a:rPr lang="en-US" sz="1300" dirty="0"/>
              <a:t>Gradient boosting = same principle, more accuracy</a:t>
            </a:r>
          </a:p>
          <a:p>
            <a:pPr marL="157163" indent="0">
              <a:lnSpc>
                <a:spcPct val="105000"/>
              </a:lnSpc>
              <a:buSzPct val="100000"/>
              <a:buNone/>
            </a:pP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GB" dirty="0"/>
              <a:t>Solution process</a:t>
            </a:r>
            <a:endParaRPr dirty="0"/>
          </a:p>
        </p:txBody>
      </p:sp>
      <p:sp>
        <p:nvSpPr>
          <p:cNvPr id="75" name="Google Shape;75;p16"/>
          <p:cNvSpPr txBox="1">
            <a:spLocks noGrp="1"/>
          </p:cNvSpPr>
          <p:nvPr>
            <p:ph type="body" idx="1"/>
          </p:nvPr>
        </p:nvSpPr>
        <p:spPr>
          <a:xfrm>
            <a:off x="437325" y="1090475"/>
            <a:ext cx="8520600" cy="1232700"/>
          </a:xfrm>
          <a:prstGeom prst="rect">
            <a:avLst/>
          </a:prstGeom>
        </p:spPr>
        <p:txBody>
          <a:bodyPr spcFirstLastPara="1" wrap="square" lIns="91425" tIns="91425" rIns="91425" bIns="91425" anchor="t" anchorCtr="0">
            <a:normAutofit fontScale="85000" lnSpcReduction="10000"/>
          </a:bodyPr>
          <a:lstStyle/>
          <a:p>
            <a:pPr marL="0" lvl="0" indent="0" algn="just" rtl="0">
              <a:spcBef>
                <a:spcPts val="0"/>
              </a:spcBef>
              <a:spcAft>
                <a:spcPts val="1200"/>
              </a:spcAft>
              <a:buNone/>
            </a:pPr>
            <a:r>
              <a:rPr lang="en-GB" b="1" dirty="0"/>
              <a:t>Ridge and Lasso regression </a:t>
            </a:r>
            <a:r>
              <a:rPr lang="en-GB" dirty="0"/>
              <a:t>are able handle datasets that include multicollinearity between variables. Given the nature of our data, which includes multiple factors like weather conditions, travel and rush hour, these methods prevent the model from being too complex or over-fitting.</a:t>
            </a:r>
            <a:endParaRPr dirty="0"/>
          </a:p>
        </p:txBody>
      </p:sp>
      <p:sp>
        <p:nvSpPr>
          <p:cNvPr id="76" name="Google Shape;76;p16"/>
          <p:cNvSpPr txBox="1">
            <a:spLocks noGrp="1"/>
          </p:cNvSpPr>
          <p:nvPr>
            <p:ph type="body" idx="1"/>
          </p:nvPr>
        </p:nvSpPr>
        <p:spPr>
          <a:xfrm>
            <a:off x="437325" y="2395925"/>
            <a:ext cx="4134674" cy="2302550"/>
          </a:xfrm>
          <a:prstGeom prst="rect">
            <a:avLst/>
          </a:prstGeom>
        </p:spPr>
        <p:txBody>
          <a:bodyPr spcFirstLastPara="1" wrap="square" lIns="91425" tIns="91425" rIns="91425" bIns="91425" numCol="1" anchor="t" anchorCtr="0">
            <a:normAutofit/>
          </a:bodyPr>
          <a:lstStyle/>
          <a:p>
            <a:pPr marL="0" lvl="0" indent="0" algn="ctr" rtl="0">
              <a:spcBef>
                <a:spcPts val="0"/>
              </a:spcBef>
              <a:spcAft>
                <a:spcPts val="0"/>
              </a:spcAft>
              <a:buNone/>
            </a:pPr>
            <a:r>
              <a:rPr lang="en-GB" b="1" dirty="0"/>
              <a:t>Ridge</a:t>
            </a:r>
            <a:r>
              <a:rPr lang="en-GB" dirty="0"/>
              <a:t> </a:t>
            </a:r>
            <a:endParaRPr dirty="0"/>
          </a:p>
          <a:p>
            <a:pPr marL="0" lvl="0" indent="0" algn="ctr" rtl="0">
              <a:spcBef>
                <a:spcPts val="1200"/>
              </a:spcBef>
              <a:spcAft>
                <a:spcPts val="1200"/>
              </a:spcAft>
              <a:buNone/>
            </a:pPr>
            <a:r>
              <a:rPr lang="en-GB" sz="1400" dirty="0"/>
              <a:t>Minimizes the potential overfitting that can occur if the model overfits the training data. This feature is useful in our case, where multiple correlated variables can lead to overfitting.</a:t>
            </a:r>
            <a:endParaRPr lang="fi-FI" sz="1400" dirty="0"/>
          </a:p>
        </p:txBody>
      </p:sp>
      <p:sp>
        <p:nvSpPr>
          <p:cNvPr id="2" name="Tekstiruutu 1">
            <a:extLst>
              <a:ext uri="{FF2B5EF4-FFF2-40B4-BE49-F238E27FC236}">
                <a16:creationId xmlns:a16="http://schemas.microsoft.com/office/drawing/2014/main" id="{C9F73D69-C03A-DD83-E4A9-FFBBDCFCF652}"/>
              </a:ext>
            </a:extLst>
          </p:cNvPr>
          <p:cNvSpPr txBox="1"/>
          <p:nvPr/>
        </p:nvSpPr>
        <p:spPr>
          <a:xfrm>
            <a:off x="4572000" y="2395925"/>
            <a:ext cx="4134675" cy="2095061"/>
          </a:xfrm>
          <a:prstGeom prst="rect">
            <a:avLst/>
          </a:prstGeom>
          <a:noFill/>
        </p:spPr>
        <p:txBody>
          <a:bodyPr wrap="square" rtlCol="0">
            <a:spAutoFit/>
          </a:bodyPr>
          <a:lstStyle/>
          <a:p>
            <a:pPr algn="ctr">
              <a:lnSpc>
                <a:spcPct val="115000"/>
              </a:lnSpc>
              <a:buClr>
                <a:schemeClr val="dk2"/>
              </a:buClr>
              <a:buSzPts val="1800"/>
            </a:pPr>
            <a:r>
              <a:rPr lang="en-US" sz="1800" b="1" dirty="0">
                <a:solidFill>
                  <a:schemeClr val="dk2"/>
                </a:solidFill>
              </a:rPr>
              <a:t>Lasso </a:t>
            </a:r>
          </a:p>
          <a:p>
            <a:pPr algn="ctr">
              <a:lnSpc>
                <a:spcPct val="115000"/>
              </a:lnSpc>
              <a:spcBef>
                <a:spcPts val="1200"/>
              </a:spcBef>
              <a:spcAft>
                <a:spcPts val="1200"/>
              </a:spcAft>
              <a:buClr>
                <a:schemeClr val="dk2"/>
              </a:buClr>
              <a:buSzPts val="1800"/>
            </a:pPr>
            <a:r>
              <a:rPr lang="en-US" dirty="0">
                <a:solidFill>
                  <a:schemeClr val="dk2"/>
                </a:solidFill>
              </a:rPr>
              <a:t>Lasso regression reduces some coefficients to zero, leaving out less important variables. It therefore helps identify which factors are truly influential and which are not, making the model more accurate in terms of prediction accuracy and explainability</a:t>
            </a:r>
            <a:r>
              <a:rPr lang="en-US" sz="1800" dirty="0">
                <a:solidFill>
                  <a:schemeClr val="dk2"/>
                </a:solidFill>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GB" sz="2600"/>
              <a:t>Results of the study</a:t>
            </a:r>
          </a:p>
        </p:txBody>
      </p:sp>
      <p:graphicFrame>
        <p:nvGraphicFramePr>
          <p:cNvPr id="83" name="Google Shape;83;p17"/>
          <p:cNvGraphicFramePr/>
          <p:nvPr>
            <p:extLst>
              <p:ext uri="{D42A27DB-BD31-4B8C-83A1-F6EECF244321}">
                <p14:modId xmlns:p14="http://schemas.microsoft.com/office/powerpoint/2010/main" val="2087173678"/>
              </p:ext>
            </p:extLst>
          </p:nvPr>
        </p:nvGraphicFramePr>
        <p:xfrm>
          <a:off x="813701" y="1208225"/>
          <a:ext cx="7516599" cy="3264413"/>
        </p:xfrm>
        <a:graphic>
          <a:graphicData uri="http://schemas.openxmlformats.org/drawingml/2006/table">
            <a:tbl>
              <a:tblPr firstRow="1" bandRow="1">
                <a:noFill/>
                <a:tableStyleId>{95142640-6E29-4FFE-AFD9-05796FD3219C}</a:tableStyleId>
              </a:tblPr>
              <a:tblGrid>
                <a:gridCol w="5366858">
                  <a:extLst>
                    <a:ext uri="{9D8B030D-6E8A-4147-A177-3AD203B41FA5}">
                      <a16:colId xmlns:a16="http://schemas.microsoft.com/office/drawing/2014/main" val="20000"/>
                    </a:ext>
                  </a:extLst>
                </a:gridCol>
                <a:gridCol w="2149741">
                  <a:extLst>
                    <a:ext uri="{9D8B030D-6E8A-4147-A177-3AD203B41FA5}">
                      <a16:colId xmlns:a16="http://schemas.microsoft.com/office/drawing/2014/main" val="20001"/>
                    </a:ext>
                  </a:extLst>
                </a:gridCol>
              </a:tblGrid>
              <a:tr h="483088">
                <a:tc>
                  <a:txBody>
                    <a:bodyPr/>
                    <a:lstStyle/>
                    <a:p>
                      <a:pPr marL="0" lvl="0" indent="0" algn="l" rtl="0">
                        <a:spcBef>
                          <a:spcPts val="0"/>
                        </a:spcBef>
                        <a:spcAft>
                          <a:spcPts val="0"/>
                        </a:spcAft>
                        <a:buNone/>
                      </a:pPr>
                      <a:r>
                        <a:rPr lang="en-GB" sz="1400" b="1" cap="all" spc="60">
                          <a:solidFill>
                            <a:schemeClr val="tx1"/>
                          </a:solidFill>
                        </a:rPr>
                        <a:t>Method:</a:t>
                      </a:r>
                      <a:endParaRPr sz="1400" b="1" cap="all" spc="60">
                        <a:solidFill>
                          <a:schemeClr val="tx1"/>
                        </a:solidFill>
                      </a:endParaRPr>
                    </a:p>
                  </a:txBody>
                  <a:tcPr marL="109775" marR="109775" marT="109793" marB="109793" anchor="b">
                    <a:lnL w="12700" cmpd="sng">
                      <a:noFill/>
                    </a:lnL>
                    <a:lnR w="12700" cmpd="sng">
                      <a:noFill/>
                    </a:lnR>
                    <a:lnT w="12700" cmpd="sng">
                      <a:noFill/>
                    </a:lnT>
                    <a:lnB w="38100" cmpd="sng">
                      <a:noFill/>
                    </a:lnB>
                    <a:noFill/>
                  </a:tcPr>
                </a:tc>
                <a:tc>
                  <a:txBody>
                    <a:bodyPr/>
                    <a:lstStyle/>
                    <a:p>
                      <a:pPr marL="0" lvl="0" indent="0" algn="l" rtl="0">
                        <a:spcBef>
                          <a:spcPts val="0"/>
                        </a:spcBef>
                        <a:spcAft>
                          <a:spcPts val="0"/>
                        </a:spcAft>
                        <a:buNone/>
                      </a:pPr>
                      <a:r>
                        <a:rPr lang="en-GB" sz="1400" b="1" cap="all" spc="60">
                          <a:solidFill>
                            <a:schemeClr val="tx1"/>
                          </a:solidFill>
                        </a:rPr>
                        <a:t>R^2:</a:t>
                      </a:r>
                      <a:endParaRPr sz="1400" b="1" cap="all" spc="60">
                        <a:solidFill>
                          <a:schemeClr val="tx1"/>
                        </a:solidFill>
                      </a:endParaRPr>
                    </a:p>
                  </a:txBody>
                  <a:tcPr marL="109775" marR="109775" marT="109793" marB="109793" anchor="b">
                    <a:lnL w="12700" cmpd="sng">
                      <a:noFill/>
                    </a:lnL>
                    <a:lnR w="12700" cmpd="sng">
                      <a:noFill/>
                    </a:lnR>
                    <a:lnT w="12700" cmpd="sng">
                      <a:noFill/>
                    </a:lnT>
                    <a:lnB w="38100" cmpd="sng">
                      <a:noFill/>
                    </a:lnB>
                    <a:noFill/>
                  </a:tcPr>
                </a:tc>
                <a:extLst>
                  <a:ext uri="{0D108BD9-81ED-4DB2-BD59-A6C34878D82A}">
                    <a16:rowId xmlns:a16="http://schemas.microsoft.com/office/drawing/2014/main" val="10000"/>
                  </a:ext>
                </a:extLst>
              </a:tr>
              <a:tr h="556265">
                <a:tc>
                  <a:txBody>
                    <a:bodyPr/>
                    <a:lstStyle/>
                    <a:p>
                      <a:pPr marL="0" lvl="0" indent="0" algn="l" rtl="0">
                        <a:spcBef>
                          <a:spcPts val="0"/>
                        </a:spcBef>
                        <a:spcAft>
                          <a:spcPts val="0"/>
                        </a:spcAft>
                        <a:buNone/>
                      </a:pPr>
                      <a:r>
                        <a:rPr lang="en-GB" sz="1900" cap="none" spc="0">
                          <a:solidFill>
                            <a:schemeClr val="tx1"/>
                          </a:solidFill>
                        </a:rPr>
                        <a:t>Ridge regression</a:t>
                      </a:r>
                      <a:endParaRPr sz="1900" cap="none" spc="0">
                        <a:solidFill>
                          <a:schemeClr val="tx1"/>
                        </a:solidFill>
                      </a:endParaRPr>
                    </a:p>
                  </a:txBody>
                  <a:tcPr marL="109775" marR="109775" marT="109775" marB="109793">
                    <a:lnL w="12700" cap="flat" cmpd="sng" algn="ctr">
                      <a:noFill/>
                      <a:prstDash val="solid"/>
                    </a:lnL>
                    <a:lnR w="12700" cmpd="sng">
                      <a:noFill/>
                      <a:prstDash val="solid"/>
                    </a:lnR>
                    <a:lnT w="38100" cmpd="sng">
                      <a:noFill/>
                    </a:lnT>
                    <a:lnB w="12700" cmpd="sng">
                      <a:noFill/>
                      <a:prstDash val="solid"/>
                    </a:lnB>
                    <a:noFill/>
                  </a:tcPr>
                </a:tc>
                <a:tc>
                  <a:txBody>
                    <a:bodyPr/>
                    <a:lstStyle/>
                    <a:p>
                      <a:pPr marL="0" lvl="0" indent="0" algn="l" rtl="0">
                        <a:spcBef>
                          <a:spcPts val="0"/>
                        </a:spcBef>
                        <a:spcAft>
                          <a:spcPts val="0"/>
                        </a:spcAft>
                        <a:buNone/>
                      </a:pPr>
                      <a:r>
                        <a:rPr lang="en-GB" sz="1900" cap="none" spc="0">
                          <a:solidFill>
                            <a:schemeClr val="tx1"/>
                          </a:solidFill>
                        </a:rPr>
                        <a:t>0.10</a:t>
                      </a:r>
                      <a:endParaRPr sz="1900" cap="none" spc="0">
                        <a:solidFill>
                          <a:schemeClr val="tx1"/>
                        </a:solidFill>
                      </a:endParaRPr>
                    </a:p>
                  </a:txBody>
                  <a:tcPr marL="109775" marR="109775" marT="109775" marB="109793">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001"/>
                  </a:ext>
                </a:extLst>
              </a:tr>
              <a:tr h="556265">
                <a:tc>
                  <a:txBody>
                    <a:bodyPr/>
                    <a:lstStyle/>
                    <a:p>
                      <a:pPr marL="0" lvl="0" indent="0" algn="l" rtl="0">
                        <a:spcBef>
                          <a:spcPts val="0"/>
                        </a:spcBef>
                        <a:spcAft>
                          <a:spcPts val="0"/>
                        </a:spcAft>
                        <a:buNone/>
                      </a:pPr>
                      <a:r>
                        <a:rPr lang="en-GB" sz="1900" cap="none" spc="0">
                          <a:solidFill>
                            <a:schemeClr val="tx1"/>
                          </a:solidFill>
                        </a:rPr>
                        <a:t>Lasso regression</a:t>
                      </a:r>
                      <a:endParaRPr sz="1900" cap="none" spc="0">
                        <a:solidFill>
                          <a:schemeClr val="tx1"/>
                        </a:solidFill>
                      </a:endParaRPr>
                    </a:p>
                  </a:txBody>
                  <a:tcPr marL="109775" marR="109775" marT="109775" marB="109793">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lvl="0" indent="0" algn="l" rtl="0">
                        <a:spcBef>
                          <a:spcPts val="0"/>
                        </a:spcBef>
                        <a:spcAft>
                          <a:spcPts val="0"/>
                        </a:spcAft>
                        <a:buNone/>
                      </a:pPr>
                      <a:r>
                        <a:rPr lang="en-GB" sz="1900" cap="none" spc="0">
                          <a:solidFill>
                            <a:schemeClr val="tx1"/>
                          </a:solidFill>
                        </a:rPr>
                        <a:t>0.10</a:t>
                      </a:r>
                      <a:endParaRPr sz="1900" cap="none" spc="0">
                        <a:solidFill>
                          <a:schemeClr val="tx1"/>
                        </a:solidFill>
                      </a:endParaRPr>
                    </a:p>
                  </a:txBody>
                  <a:tcPr marL="109775" marR="109775" marT="109775" marB="109793">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556265">
                <a:tc>
                  <a:txBody>
                    <a:bodyPr/>
                    <a:lstStyle/>
                    <a:p>
                      <a:pPr marL="0" lvl="0" indent="0" algn="l" rtl="0">
                        <a:spcBef>
                          <a:spcPts val="0"/>
                        </a:spcBef>
                        <a:spcAft>
                          <a:spcPts val="0"/>
                        </a:spcAft>
                        <a:buNone/>
                      </a:pPr>
                      <a:r>
                        <a:rPr lang="en-GB" sz="1900" cap="none" spc="0">
                          <a:solidFill>
                            <a:schemeClr val="tx1"/>
                          </a:solidFill>
                        </a:rPr>
                        <a:t>Linear regression</a:t>
                      </a:r>
                      <a:endParaRPr sz="1900" cap="none" spc="0">
                        <a:solidFill>
                          <a:schemeClr val="tx1"/>
                        </a:solidFill>
                      </a:endParaRPr>
                    </a:p>
                  </a:txBody>
                  <a:tcPr marL="109775" marR="109775" marT="109775" marB="109793">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marL="0" lvl="0" indent="0" algn="l" rtl="0">
                        <a:spcBef>
                          <a:spcPts val="0"/>
                        </a:spcBef>
                        <a:spcAft>
                          <a:spcPts val="0"/>
                        </a:spcAft>
                        <a:buNone/>
                      </a:pPr>
                      <a:r>
                        <a:rPr lang="en-GB" sz="1900" cap="none" spc="0">
                          <a:solidFill>
                            <a:schemeClr val="tx1"/>
                          </a:solidFill>
                        </a:rPr>
                        <a:t>0.11</a:t>
                      </a:r>
                      <a:endParaRPr sz="1900" cap="none" spc="0">
                        <a:solidFill>
                          <a:schemeClr val="tx1"/>
                        </a:solidFill>
                      </a:endParaRPr>
                    </a:p>
                  </a:txBody>
                  <a:tcPr marL="109775" marR="109775" marT="109775" marB="109793">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3"/>
                  </a:ext>
                </a:extLst>
              </a:tr>
              <a:tr h="556265">
                <a:tc>
                  <a:txBody>
                    <a:bodyPr/>
                    <a:lstStyle/>
                    <a:p>
                      <a:pPr marL="0" lvl="0" indent="0" algn="l" rtl="0">
                        <a:spcBef>
                          <a:spcPts val="0"/>
                        </a:spcBef>
                        <a:spcAft>
                          <a:spcPts val="0"/>
                        </a:spcAft>
                        <a:buNone/>
                      </a:pPr>
                      <a:r>
                        <a:rPr lang="en-GB" sz="1900" cap="none" spc="0">
                          <a:solidFill>
                            <a:schemeClr val="tx1"/>
                          </a:solidFill>
                        </a:rPr>
                        <a:t>Random forest</a:t>
                      </a:r>
                      <a:endParaRPr sz="1900" cap="none" spc="0">
                        <a:solidFill>
                          <a:schemeClr val="tx1"/>
                        </a:solidFill>
                      </a:endParaRPr>
                    </a:p>
                  </a:txBody>
                  <a:tcPr marL="109775" marR="109775" marT="109775" marB="109793">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lvl="0" indent="0" algn="l" rtl="0">
                        <a:spcBef>
                          <a:spcPts val="0"/>
                        </a:spcBef>
                        <a:spcAft>
                          <a:spcPts val="0"/>
                        </a:spcAft>
                        <a:buNone/>
                      </a:pPr>
                      <a:r>
                        <a:rPr lang="en-GB" sz="1900" cap="none" spc="0">
                          <a:solidFill>
                            <a:schemeClr val="tx1"/>
                          </a:solidFill>
                        </a:rPr>
                        <a:t>0.10</a:t>
                      </a:r>
                      <a:endParaRPr sz="1900" cap="none" spc="0">
                        <a:solidFill>
                          <a:schemeClr val="tx1"/>
                        </a:solidFill>
                      </a:endParaRPr>
                    </a:p>
                  </a:txBody>
                  <a:tcPr marL="109775" marR="109775" marT="109775" marB="109793">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556265">
                <a:tc>
                  <a:txBody>
                    <a:bodyPr/>
                    <a:lstStyle/>
                    <a:p>
                      <a:pPr marL="0" lvl="0" indent="0" algn="l" rtl="0">
                        <a:spcBef>
                          <a:spcPts val="0"/>
                        </a:spcBef>
                        <a:spcAft>
                          <a:spcPts val="0"/>
                        </a:spcAft>
                        <a:buNone/>
                      </a:pPr>
                      <a:r>
                        <a:rPr lang="en-GB" sz="1900" cap="none" spc="0">
                          <a:solidFill>
                            <a:schemeClr val="tx1"/>
                          </a:solidFill>
                        </a:rPr>
                        <a:t>XGBOOST</a:t>
                      </a:r>
                      <a:endParaRPr sz="1900" cap="none" spc="0">
                        <a:solidFill>
                          <a:schemeClr val="tx1"/>
                        </a:solidFill>
                      </a:endParaRPr>
                    </a:p>
                  </a:txBody>
                  <a:tcPr marL="109775" marR="109775" marT="109775" marB="109793">
                    <a:lnL w="12700"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marL="0" lvl="0" indent="0" algn="l" rtl="0">
                        <a:spcBef>
                          <a:spcPts val="0"/>
                        </a:spcBef>
                        <a:spcAft>
                          <a:spcPts val="0"/>
                        </a:spcAft>
                        <a:buNone/>
                      </a:pPr>
                      <a:r>
                        <a:rPr lang="en-GB" sz="1900" cap="none" spc="0">
                          <a:solidFill>
                            <a:schemeClr val="tx1"/>
                          </a:solidFill>
                        </a:rPr>
                        <a:t>0.16</a:t>
                      </a:r>
                      <a:endParaRPr sz="1900" cap="none" spc="0">
                        <a:solidFill>
                          <a:schemeClr val="tx1"/>
                        </a:solidFill>
                      </a:endParaRPr>
                    </a:p>
                  </a:txBody>
                  <a:tcPr marL="109775" marR="109775" marT="109775" marB="109793">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None/>
            </a:pPr>
            <a:r>
              <a:rPr lang="en-US" sz="2600"/>
              <a:t>Key takeaways of the study:</a:t>
            </a:r>
          </a:p>
        </p:txBody>
      </p:sp>
      <p:sp>
        <p:nvSpPr>
          <p:cNvPr id="89" name="Google Shape;89;p18"/>
          <p:cNvSpPr txBox="1">
            <a:spLocks noGrp="1"/>
          </p:cNvSpPr>
          <p:nvPr>
            <p:ph type="body" idx="4294967295"/>
          </p:nvPr>
        </p:nvSpPr>
        <p:spPr>
          <a:xfrm>
            <a:off x="254050" y="1066025"/>
            <a:ext cx="8520600" cy="3416400"/>
          </a:xfrm>
          <a:prstGeom prst="rect">
            <a:avLst/>
          </a:prstGeom>
        </p:spPr>
        <p:txBody>
          <a:bodyPr spcFirstLastPara="1" wrap="square" lIns="91425" tIns="91425" rIns="91425" bIns="91425" anchor="t" anchorCtr="0">
            <a:normAutofit/>
          </a:bodyPr>
          <a:lstStyle/>
          <a:p>
            <a:pPr marL="457200" lvl="0" indent="-342900" algn="l" rtl="0">
              <a:lnSpc>
                <a:spcPct val="105000"/>
              </a:lnSpc>
              <a:spcBef>
                <a:spcPts val="0"/>
              </a:spcBef>
              <a:spcAft>
                <a:spcPts val="600"/>
              </a:spcAft>
              <a:buSzPts val="1800"/>
              <a:buChar char="-"/>
            </a:pPr>
            <a:r>
              <a:rPr lang="en-US" sz="1400" dirty="0"/>
              <a:t>Results are very similar between each method (i.e. low R^2).</a:t>
            </a:r>
          </a:p>
          <a:p>
            <a:pPr marL="457200" lvl="0" indent="-342900" algn="l" rtl="0">
              <a:lnSpc>
                <a:spcPct val="105000"/>
              </a:lnSpc>
              <a:spcBef>
                <a:spcPts val="0"/>
              </a:spcBef>
              <a:spcAft>
                <a:spcPts val="600"/>
              </a:spcAft>
              <a:buSzPts val="1800"/>
              <a:buChar char="-"/>
            </a:pPr>
            <a:r>
              <a:rPr lang="en-US" sz="1400" dirty="0"/>
              <a:t>We see that weather indeed has negative effects on delivery times.</a:t>
            </a:r>
          </a:p>
          <a:p>
            <a:pPr marL="914400" lvl="1" indent="-317500" algn="l" rtl="0">
              <a:lnSpc>
                <a:spcPct val="105000"/>
              </a:lnSpc>
              <a:spcBef>
                <a:spcPts val="0"/>
              </a:spcBef>
              <a:spcAft>
                <a:spcPts val="600"/>
              </a:spcAft>
              <a:buSzPts val="1400"/>
              <a:buChar char="-"/>
            </a:pPr>
            <a:r>
              <a:rPr lang="en-US" sz="1200" dirty="0"/>
              <a:t>For example, thicker cloud coverage &amp; higher wind speeds.</a:t>
            </a:r>
          </a:p>
          <a:p>
            <a:pPr marL="457200" lvl="0" indent="-342900" algn="l" rtl="0">
              <a:lnSpc>
                <a:spcPct val="105000"/>
              </a:lnSpc>
              <a:spcBef>
                <a:spcPts val="0"/>
              </a:spcBef>
              <a:spcAft>
                <a:spcPts val="600"/>
              </a:spcAft>
              <a:buSzPts val="1800"/>
              <a:buChar char="-"/>
            </a:pPr>
            <a:r>
              <a:rPr lang="en-US" sz="1400" dirty="0"/>
              <a:t>Challenges on applying the results.</a:t>
            </a:r>
          </a:p>
          <a:p>
            <a:pPr marL="914400" lvl="1" indent="-317500" algn="l" rtl="0">
              <a:lnSpc>
                <a:spcPct val="105000"/>
              </a:lnSpc>
              <a:spcBef>
                <a:spcPts val="0"/>
              </a:spcBef>
              <a:spcAft>
                <a:spcPts val="600"/>
              </a:spcAft>
              <a:buSzPts val="1400"/>
              <a:buChar char="-"/>
            </a:pPr>
            <a:r>
              <a:rPr lang="en-US" sz="1200" dirty="0"/>
              <a:t>Rush hour seem to lower delivery times.</a:t>
            </a:r>
          </a:p>
          <a:p>
            <a:pPr marL="914400" lvl="1" indent="-317500" algn="l" rtl="0">
              <a:lnSpc>
                <a:spcPct val="105000"/>
              </a:lnSpc>
              <a:spcBef>
                <a:spcPts val="0"/>
              </a:spcBef>
              <a:spcAft>
                <a:spcPts val="600"/>
              </a:spcAft>
              <a:buSzPts val="1400"/>
              <a:buChar char="-"/>
            </a:pPr>
            <a:r>
              <a:rPr lang="en-US" sz="1200" dirty="0"/>
              <a:t>Are cloud coverage and wind speed just side effects of the actual reasons?</a:t>
            </a:r>
            <a:endParaRPr lang="en-US" sz="1500" dirty="0"/>
          </a:p>
          <a:p>
            <a:pPr marL="457200" lvl="0" indent="-342900" algn="l" rtl="0">
              <a:lnSpc>
                <a:spcPct val="105000"/>
              </a:lnSpc>
              <a:spcBef>
                <a:spcPts val="0"/>
              </a:spcBef>
              <a:spcAft>
                <a:spcPts val="600"/>
              </a:spcAft>
              <a:buSzPts val="1800"/>
              <a:buChar char="-"/>
            </a:pPr>
            <a:r>
              <a:rPr lang="en-US" sz="1400" dirty="0"/>
              <a:t>More data/analysis needed to make conclusive and comprehensive suggestions. </a:t>
            </a:r>
          </a:p>
          <a:p>
            <a:pPr marL="914400" lvl="1" indent="-317500" algn="l" rtl="0">
              <a:lnSpc>
                <a:spcPct val="105000"/>
              </a:lnSpc>
              <a:spcBef>
                <a:spcPts val="0"/>
              </a:spcBef>
              <a:spcAft>
                <a:spcPts val="600"/>
              </a:spcAft>
              <a:buSzPts val="1400"/>
              <a:buChar char="-"/>
            </a:pPr>
            <a:r>
              <a:rPr lang="en-US" sz="1200" dirty="0"/>
              <a:t>Feature engineering and feature selection</a:t>
            </a:r>
          </a:p>
          <a:p>
            <a:pPr marL="914400" lvl="1" indent="-317500" algn="l" rtl="0">
              <a:lnSpc>
                <a:spcPct val="105000"/>
              </a:lnSpc>
              <a:spcBef>
                <a:spcPts val="0"/>
              </a:spcBef>
              <a:spcAft>
                <a:spcPts val="600"/>
              </a:spcAft>
              <a:buSzPts val="1400"/>
              <a:buChar char="-"/>
            </a:pPr>
            <a:r>
              <a:rPr lang="en-US" sz="1200" dirty="0"/>
              <a:t>Hyperparameter tuning</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466</Words>
  <Application>Microsoft Office PowerPoint</Application>
  <PresentationFormat>Näytössä katseltava esitys (16:9)</PresentationFormat>
  <Paragraphs>55</Paragraphs>
  <Slides>6</Slides>
  <Notes>5</Notes>
  <HiddenSlides>0</HiddenSlides>
  <MMClips>0</MMClips>
  <ScaleCrop>false</ScaleCrop>
  <HeadingPairs>
    <vt:vector size="6" baseType="variant">
      <vt:variant>
        <vt:lpstr>Käytetyt fontit</vt:lpstr>
      </vt:variant>
      <vt:variant>
        <vt:i4>1</vt:i4>
      </vt:variant>
      <vt:variant>
        <vt:lpstr>Teema</vt:lpstr>
      </vt:variant>
      <vt:variant>
        <vt:i4>1</vt:i4>
      </vt:variant>
      <vt:variant>
        <vt:lpstr>Dian otsikot</vt:lpstr>
      </vt:variant>
      <vt:variant>
        <vt:i4>6</vt:i4>
      </vt:variant>
    </vt:vector>
  </HeadingPairs>
  <TitlesOfParts>
    <vt:vector size="8" baseType="lpstr">
      <vt:lpstr>Arial</vt:lpstr>
      <vt:lpstr>Simple Light</vt:lpstr>
      <vt:lpstr>Impact of weather on delivery times</vt:lpstr>
      <vt:lpstr>Introduction </vt:lpstr>
      <vt:lpstr>Solution process</vt:lpstr>
      <vt:lpstr>Solution process</vt:lpstr>
      <vt:lpstr>Results of the study</vt:lpstr>
      <vt:lpstr>Key takeaways of the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Neulaluoma Johanna</cp:lastModifiedBy>
  <cp:revision>3</cp:revision>
  <dcterms:modified xsi:type="dcterms:W3CDTF">2024-10-09T07:42:40Z</dcterms:modified>
</cp:coreProperties>
</file>